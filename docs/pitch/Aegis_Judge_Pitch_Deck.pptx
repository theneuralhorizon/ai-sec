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4.svg" ContentType="image/svg+xml"/>
  <Override PartName="/ppt/media/image6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Open Sauce Heavy" charset="1" panose="00000A00000000000000"/>
      <p:regular r:id="rId20"/>
    </p:embeddedFont>
    <p:embeddedFont>
      <p:font typeface="Open Sauce Light" charset="1" panose="00000400000000000000"/>
      <p:regular r:id="rId21"/>
    </p:embeddedFont>
    <p:embeddedFont>
      <p:font typeface="Open Sauce Bold" charset="1" panose="00000800000000000000"/>
      <p:regular r:id="rId22"/>
    </p:embeddedFont>
    <p:embeddedFont>
      <p:font typeface="Open Sauce" charset="1" panose="00000500000000000000"/>
      <p:regular r:id="rId23"/>
    </p:embeddedFont>
    <p:embeddedFont>
      <p:font typeface="Open Sauce Semi-Bold" charset="1" panose="000007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font" Target="fonts/font24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2.sv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14.png"/><Relationship Id="rId6" Type="http://schemas.openxmlformats.org/officeDocument/2006/relationships/image" Target="../media/image15.svg"/><Relationship Id="rId7" Type="http://schemas.openxmlformats.org/officeDocument/2006/relationships/image" Target="../media/image16.png"/><Relationship Id="rId8" Type="http://schemas.openxmlformats.org/officeDocument/2006/relationships/image" Target="../media/image17.svg"/><Relationship Id="rId9" Type="http://schemas.openxmlformats.org/officeDocument/2006/relationships/image" Target="../media/image18.png"/><Relationship Id="rId10" Type="http://schemas.openxmlformats.org/officeDocument/2006/relationships/image" Target="../media/image19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12.svg"/><Relationship Id="rId5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2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8.png"/><Relationship Id="rId8" Type="http://schemas.openxmlformats.org/officeDocument/2006/relationships/image" Target="../media/image25.jpeg"/><Relationship Id="rId9" Type="http://schemas.openxmlformats.org/officeDocument/2006/relationships/image" Target="../media/image26.jpeg"/><Relationship Id="rId10" Type="http://schemas.openxmlformats.org/officeDocument/2006/relationships/image" Target="../media/image27.jpeg"/><Relationship Id="rId11" Type="http://schemas.openxmlformats.org/officeDocument/2006/relationships/image" Target="../media/image28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9.png"/><Relationship Id="rId9" Type="http://schemas.openxmlformats.org/officeDocument/2006/relationships/image" Target="../media/image30.svg"/><Relationship Id="rId10" Type="http://schemas.openxmlformats.org/officeDocument/2006/relationships/image" Target="../media/image31.png"/><Relationship Id="rId11" Type="http://schemas.openxmlformats.org/officeDocument/2006/relationships/image" Target="../media/image32.svg"/><Relationship Id="rId12" Type="http://schemas.openxmlformats.org/officeDocument/2006/relationships/image" Target="../media/image33.png"/><Relationship Id="rId13" Type="http://schemas.openxmlformats.org/officeDocument/2006/relationships/image" Target="../media/image34.svg"/><Relationship Id="rId14" Type="http://schemas.openxmlformats.org/officeDocument/2006/relationships/image" Target="../media/image35.png"/><Relationship Id="rId15" Type="http://schemas.openxmlformats.org/officeDocument/2006/relationships/image" Target="../media/image36.sv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0D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977201">
            <a:off x="8302125" y="-801031"/>
            <a:ext cx="12791303" cy="9442307"/>
          </a:xfrm>
          <a:custGeom>
            <a:avLst/>
            <a:gdLst/>
            <a:ahLst/>
            <a:cxnLst/>
            <a:rect r="r" b="b" t="t" l="l"/>
            <a:pathLst>
              <a:path h="9442307" w="12791303">
                <a:moveTo>
                  <a:pt x="0" y="0"/>
                </a:moveTo>
                <a:lnTo>
                  <a:pt x="12791302" y="0"/>
                </a:lnTo>
                <a:lnTo>
                  <a:pt x="12791302" y="9442307"/>
                </a:lnTo>
                <a:lnTo>
                  <a:pt x="0" y="94423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2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0659522">
            <a:off x="-1466084" y="-1104127"/>
            <a:ext cx="6017764" cy="3599717"/>
          </a:xfrm>
          <a:custGeom>
            <a:avLst/>
            <a:gdLst/>
            <a:ahLst/>
            <a:cxnLst/>
            <a:rect r="r" b="b" t="t" l="l"/>
            <a:pathLst>
              <a:path h="3599717" w="6017764">
                <a:moveTo>
                  <a:pt x="0" y="0"/>
                </a:moveTo>
                <a:lnTo>
                  <a:pt x="6017764" y="0"/>
                </a:lnTo>
                <a:lnTo>
                  <a:pt x="6017764" y="3599717"/>
                </a:lnTo>
                <a:lnTo>
                  <a:pt x="0" y="359971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2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24022" y="5188961"/>
            <a:ext cx="4716981" cy="6251420"/>
          </a:xfrm>
          <a:custGeom>
            <a:avLst/>
            <a:gdLst/>
            <a:ahLst/>
            <a:cxnLst/>
            <a:rect r="r" b="b" t="t" l="l"/>
            <a:pathLst>
              <a:path h="6251420" w="4716981">
                <a:moveTo>
                  <a:pt x="0" y="0"/>
                </a:moveTo>
                <a:lnTo>
                  <a:pt x="4716981" y="0"/>
                </a:lnTo>
                <a:lnTo>
                  <a:pt x="4716981" y="6251421"/>
                </a:lnTo>
                <a:lnTo>
                  <a:pt x="0" y="625142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5360779"/>
            <a:ext cx="13017405" cy="4503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830"/>
              </a:lnSpc>
            </a:pPr>
            <a:r>
              <a:rPr lang="en-US" sz="26307" spc="-1236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Aegis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2696100" y="8626236"/>
            <a:ext cx="498714" cy="498714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2424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9" id="9"/>
          <p:cNvSpPr/>
          <p:nvPr/>
        </p:nvSpPr>
        <p:spPr>
          <a:xfrm>
            <a:off x="1045163" y="1480091"/>
            <a:ext cx="16214137" cy="0"/>
          </a:xfrm>
          <a:prstGeom prst="line">
            <a:avLst/>
          </a:prstGeom>
          <a:ln cap="flat" w="19050">
            <a:solidFill>
              <a:srgbClr val="42424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953566" y="647822"/>
            <a:ext cx="644940" cy="644940"/>
          </a:xfrm>
          <a:custGeom>
            <a:avLst/>
            <a:gdLst/>
            <a:ahLst/>
            <a:cxnLst/>
            <a:rect r="r" b="b" t="t" l="l"/>
            <a:pathLst>
              <a:path h="644940" w="644940">
                <a:moveTo>
                  <a:pt x="0" y="0"/>
                </a:moveTo>
                <a:lnTo>
                  <a:pt x="644939" y="0"/>
                </a:lnTo>
                <a:lnTo>
                  <a:pt x="644939" y="644940"/>
                </a:lnTo>
                <a:lnTo>
                  <a:pt x="0" y="644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675526" y="650408"/>
            <a:ext cx="3426806" cy="587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8"/>
              </a:lnSpc>
            </a:pPr>
            <a:r>
              <a:rPr lang="en-US" sz="3477" spc="-163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Aegis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089987" y="7990332"/>
            <a:ext cx="3450154" cy="11346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3600" spc="-201">
                <a:solidFill>
                  <a:srgbClr val="424242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Agent Security Control Plane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809146" y="622579"/>
            <a:ext cx="3450154" cy="2815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68"/>
              </a:lnSpc>
            </a:pPr>
            <a:r>
              <a:rPr lang="en-US" b="true" sz="1800" spc="-100">
                <a:solidFill>
                  <a:srgbClr val="42424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Presented by :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809146" y="920227"/>
            <a:ext cx="3450154" cy="318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000" spc="-112">
                <a:solidFill>
                  <a:srgbClr val="424242"/>
                </a:solidFill>
                <a:latin typeface="Open Sauce"/>
                <a:ea typeface="Open Sauce"/>
                <a:cs typeface="Open Sauce"/>
                <a:sym typeface="Open Sauce"/>
              </a:rPr>
              <a:t>Atharva · Kshitij · Manas · Sahil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0D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924022" y="5188961"/>
            <a:ext cx="4716981" cy="6251420"/>
          </a:xfrm>
          <a:custGeom>
            <a:avLst/>
            <a:gdLst/>
            <a:ahLst/>
            <a:cxnLst/>
            <a:rect r="r" b="b" t="t" l="l"/>
            <a:pathLst>
              <a:path h="6251420" w="4716981">
                <a:moveTo>
                  <a:pt x="0" y="0"/>
                </a:moveTo>
                <a:lnTo>
                  <a:pt x="4716981" y="0"/>
                </a:lnTo>
                <a:lnTo>
                  <a:pt x="4716981" y="6251421"/>
                </a:lnTo>
                <a:lnTo>
                  <a:pt x="0" y="62514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925852">
            <a:off x="-2330235" y="2657262"/>
            <a:ext cx="9386678" cy="10557613"/>
          </a:xfrm>
          <a:custGeom>
            <a:avLst/>
            <a:gdLst/>
            <a:ahLst/>
            <a:cxnLst/>
            <a:rect r="r" b="b" t="t" l="l"/>
            <a:pathLst>
              <a:path h="10557613" w="9386678">
                <a:moveTo>
                  <a:pt x="0" y="0"/>
                </a:moveTo>
                <a:lnTo>
                  <a:pt x="9386678" y="0"/>
                </a:lnTo>
                <a:lnTo>
                  <a:pt x="9386678" y="10557613"/>
                </a:lnTo>
                <a:lnTo>
                  <a:pt x="0" y="105576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53566" y="647822"/>
            <a:ext cx="644940" cy="644940"/>
          </a:xfrm>
          <a:custGeom>
            <a:avLst/>
            <a:gdLst/>
            <a:ahLst/>
            <a:cxnLst/>
            <a:rect r="r" b="b" t="t" l="l"/>
            <a:pathLst>
              <a:path h="644940" w="644940">
                <a:moveTo>
                  <a:pt x="0" y="0"/>
                </a:moveTo>
                <a:lnTo>
                  <a:pt x="644939" y="0"/>
                </a:lnTo>
                <a:lnTo>
                  <a:pt x="644939" y="644940"/>
                </a:lnTo>
                <a:lnTo>
                  <a:pt x="0" y="64494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343327" y="-1437860"/>
            <a:ext cx="12858845" cy="4933121"/>
          </a:xfrm>
          <a:custGeom>
            <a:avLst/>
            <a:gdLst/>
            <a:ahLst/>
            <a:cxnLst/>
            <a:rect r="r" b="b" t="t" l="l"/>
            <a:pathLst>
              <a:path h="4933121" w="12858845">
                <a:moveTo>
                  <a:pt x="0" y="0"/>
                </a:moveTo>
                <a:lnTo>
                  <a:pt x="12858845" y="0"/>
                </a:lnTo>
                <a:lnTo>
                  <a:pt x="12858845" y="4933120"/>
                </a:lnTo>
                <a:lnTo>
                  <a:pt x="0" y="493312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25000"/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9268640" y="-1913484"/>
            <a:ext cx="8120948" cy="14062990"/>
            <a:chOff x="0" y="0"/>
            <a:chExt cx="2138850" cy="370383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38850" cy="3703833"/>
            </a:xfrm>
            <a:custGeom>
              <a:avLst/>
              <a:gdLst/>
              <a:ahLst/>
              <a:cxnLst/>
              <a:rect r="r" b="b" t="t" l="l"/>
              <a:pathLst>
                <a:path h="3703833" w="2138850">
                  <a:moveTo>
                    <a:pt x="38133" y="0"/>
                  </a:moveTo>
                  <a:lnTo>
                    <a:pt x="2100717" y="0"/>
                  </a:lnTo>
                  <a:cubicBezTo>
                    <a:pt x="2110831" y="0"/>
                    <a:pt x="2120530" y="4018"/>
                    <a:pt x="2127682" y="11169"/>
                  </a:cubicBezTo>
                  <a:cubicBezTo>
                    <a:pt x="2134833" y="18320"/>
                    <a:pt x="2138850" y="28020"/>
                    <a:pt x="2138850" y="38133"/>
                  </a:cubicBezTo>
                  <a:lnTo>
                    <a:pt x="2138850" y="3665700"/>
                  </a:lnTo>
                  <a:cubicBezTo>
                    <a:pt x="2138850" y="3675813"/>
                    <a:pt x="2134833" y="3685513"/>
                    <a:pt x="2127682" y="3692664"/>
                  </a:cubicBezTo>
                  <a:cubicBezTo>
                    <a:pt x="2120530" y="3699815"/>
                    <a:pt x="2110831" y="3703833"/>
                    <a:pt x="2100717" y="3703833"/>
                  </a:cubicBezTo>
                  <a:lnTo>
                    <a:pt x="38133" y="3703833"/>
                  </a:lnTo>
                  <a:cubicBezTo>
                    <a:pt x="28020" y="3703833"/>
                    <a:pt x="18320" y="3699815"/>
                    <a:pt x="11169" y="3692664"/>
                  </a:cubicBezTo>
                  <a:cubicBezTo>
                    <a:pt x="4018" y="3685513"/>
                    <a:pt x="0" y="3675813"/>
                    <a:pt x="0" y="3665700"/>
                  </a:cubicBezTo>
                  <a:lnTo>
                    <a:pt x="0" y="38133"/>
                  </a:lnTo>
                  <a:cubicBezTo>
                    <a:pt x="0" y="28020"/>
                    <a:pt x="4018" y="18320"/>
                    <a:pt x="11169" y="11169"/>
                  </a:cubicBezTo>
                  <a:cubicBezTo>
                    <a:pt x="18320" y="4018"/>
                    <a:pt x="28020" y="0"/>
                    <a:pt x="38133" y="0"/>
                  </a:cubicBezTo>
                  <a:close/>
                </a:path>
              </a:pathLst>
            </a:custGeom>
            <a:solidFill>
              <a:srgbClr val="D0D7DD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138850" cy="37324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028700" y="6518917"/>
            <a:ext cx="7628749" cy="3009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464"/>
              </a:lnSpc>
            </a:pPr>
            <a:r>
              <a:rPr lang="en-US" sz="12196" spc="-573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Today’s Agenda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14225" y="1341867"/>
            <a:ext cx="930834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0"/>
              </a:lnSpc>
            </a:pPr>
            <a:r>
              <a:rPr lang="en-US" b="true" sz="2500" spc="-117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01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14225" y="2155661"/>
            <a:ext cx="930834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0"/>
              </a:lnSpc>
            </a:pPr>
            <a:r>
              <a:rPr lang="en-US" b="true" sz="2500" spc="-117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02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409213" y="1341867"/>
            <a:ext cx="5466983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0"/>
              </a:lnSpc>
            </a:pPr>
            <a:r>
              <a:rPr lang="en-US" sz="2500" spc="-117">
                <a:solidFill>
                  <a:srgbClr val="424242"/>
                </a:solidFill>
                <a:latin typeface="Open Sauce"/>
                <a:ea typeface="Open Sauce"/>
                <a:cs typeface="Open Sauce"/>
                <a:sym typeface="Open Sauce"/>
              </a:rPr>
              <a:t>The Threat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409213" y="2155661"/>
            <a:ext cx="5466983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0"/>
              </a:lnSpc>
            </a:pPr>
            <a:r>
              <a:rPr lang="en-US" sz="2500" spc="-117">
                <a:solidFill>
                  <a:srgbClr val="424242"/>
                </a:solidFill>
                <a:latin typeface="Open Sauce"/>
                <a:ea typeface="Open Sauce"/>
                <a:cs typeface="Open Sauce"/>
                <a:sym typeface="Open Sauce"/>
              </a:rPr>
              <a:t>Why Models Fail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75526" y="650408"/>
            <a:ext cx="4693608" cy="587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8"/>
              </a:lnSpc>
            </a:pPr>
            <a:r>
              <a:rPr lang="en-US" sz="3477" spc="-163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Aegis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214225" y="2969455"/>
            <a:ext cx="930834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0"/>
              </a:lnSpc>
            </a:pPr>
            <a:r>
              <a:rPr lang="en-US" b="true" sz="2500" spc="-117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03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409213" y="2969455"/>
            <a:ext cx="5466983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0"/>
              </a:lnSpc>
            </a:pPr>
            <a:r>
              <a:rPr lang="en-US" sz="2500" spc="-117">
                <a:solidFill>
                  <a:srgbClr val="424242"/>
                </a:solidFill>
                <a:latin typeface="Open Sauce"/>
                <a:ea typeface="Open Sauce"/>
                <a:cs typeface="Open Sauce"/>
                <a:sym typeface="Open Sauce"/>
              </a:rPr>
              <a:t>The Control Plane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14225" y="3783249"/>
            <a:ext cx="930834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0"/>
              </a:lnSpc>
            </a:pPr>
            <a:r>
              <a:rPr lang="en-US" b="true" sz="2500" spc="-117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04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409213" y="3783249"/>
            <a:ext cx="5466983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0"/>
              </a:lnSpc>
            </a:pPr>
            <a:r>
              <a:rPr lang="en-US" sz="2500" spc="-117">
                <a:solidFill>
                  <a:srgbClr val="424242"/>
                </a:solidFill>
                <a:latin typeface="Open Sauce"/>
                <a:ea typeface="Open Sauce"/>
                <a:cs typeface="Open Sauce"/>
                <a:sym typeface="Open Sauce"/>
              </a:rPr>
              <a:t>Five Enforcement Layers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214225" y="4597043"/>
            <a:ext cx="930834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0"/>
              </a:lnSpc>
            </a:pPr>
            <a:r>
              <a:rPr lang="en-US" b="true" sz="2500" spc="-117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05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409213" y="4597043"/>
            <a:ext cx="5466983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0"/>
              </a:lnSpc>
            </a:pPr>
            <a:r>
              <a:rPr lang="en-US" sz="2500" spc="-117">
                <a:solidFill>
                  <a:srgbClr val="424242"/>
                </a:solidFill>
                <a:latin typeface="Open Sauce"/>
                <a:ea typeface="Open Sauce"/>
                <a:cs typeface="Open Sauce"/>
                <a:sym typeface="Open Sauce"/>
              </a:rPr>
              <a:t>Why This Category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214225" y="5410838"/>
            <a:ext cx="930834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0"/>
              </a:lnSpc>
            </a:pPr>
            <a:r>
              <a:rPr lang="en-US" b="true" sz="2500" spc="-117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06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409213" y="5410838"/>
            <a:ext cx="5466983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0"/>
              </a:lnSpc>
            </a:pPr>
            <a:r>
              <a:rPr lang="en-US" sz="2500" spc="-117">
                <a:solidFill>
                  <a:srgbClr val="424242"/>
                </a:solidFill>
                <a:latin typeface="Open Sauce"/>
                <a:ea typeface="Open Sauce"/>
                <a:cs typeface="Open Sauce"/>
                <a:sym typeface="Open Sauce"/>
              </a:rPr>
              <a:t>Competitive Field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214225" y="6224632"/>
            <a:ext cx="930834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0"/>
              </a:lnSpc>
            </a:pPr>
            <a:r>
              <a:rPr lang="en-US" b="true" sz="2500" spc="-117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07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409213" y="6224632"/>
            <a:ext cx="5466983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0"/>
              </a:lnSpc>
            </a:pPr>
            <a:r>
              <a:rPr lang="en-US" sz="2500" spc="-117">
                <a:solidFill>
                  <a:srgbClr val="424242"/>
                </a:solidFill>
                <a:latin typeface="Open Sauce"/>
                <a:ea typeface="Open Sauce"/>
                <a:cs typeface="Open Sauce"/>
                <a:sym typeface="Open Sauce"/>
              </a:rPr>
              <a:t>Why We Win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214225" y="7038426"/>
            <a:ext cx="930834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0"/>
              </a:lnSpc>
            </a:pPr>
            <a:r>
              <a:rPr lang="en-US" b="true" sz="2500" spc="-117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08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409213" y="7038426"/>
            <a:ext cx="5466983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0"/>
              </a:lnSpc>
            </a:pPr>
            <a:r>
              <a:rPr lang="en-US" sz="2500" spc="-117">
                <a:solidFill>
                  <a:srgbClr val="424242"/>
                </a:solidFill>
                <a:latin typeface="Open Sauce"/>
                <a:ea typeface="Open Sauce"/>
                <a:cs typeface="Open Sauce"/>
                <a:sym typeface="Open Sauce"/>
              </a:rPr>
              <a:t>Live Proof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214225" y="7852220"/>
            <a:ext cx="930834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0"/>
              </a:lnSpc>
            </a:pPr>
            <a:r>
              <a:rPr lang="en-US" b="true" sz="2500" spc="-117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09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409213" y="7852220"/>
            <a:ext cx="5466983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0"/>
              </a:lnSpc>
            </a:pPr>
            <a:r>
              <a:rPr lang="en-US" sz="2500" spc="-117">
                <a:solidFill>
                  <a:srgbClr val="424242"/>
                </a:solidFill>
                <a:latin typeface="Open Sauce"/>
                <a:ea typeface="Open Sauce"/>
                <a:cs typeface="Open Sauce"/>
                <a:sym typeface="Open Sauce"/>
              </a:rPr>
              <a:t>How We Built It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214225" y="8666015"/>
            <a:ext cx="930834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0"/>
              </a:lnSpc>
            </a:pPr>
            <a:r>
              <a:rPr lang="en-US" b="true" sz="2500" spc="-117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10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409213" y="8666015"/>
            <a:ext cx="5466983" cy="31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0"/>
              </a:lnSpc>
            </a:pPr>
            <a:r>
              <a:rPr lang="en-US" sz="2500" spc="-117">
                <a:solidFill>
                  <a:srgbClr val="424242"/>
                </a:solidFill>
                <a:latin typeface="Open Sauce"/>
                <a:ea typeface="Open Sauce"/>
                <a:cs typeface="Open Sauce"/>
                <a:sym typeface="Open Sauce"/>
              </a:rPr>
              <a:t>What’s Next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242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4223" y="3602732"/>
            <a:ext cx="18339515" cy="9403170"/>
          </a:xfrm>
          <a:custGeom>
            <a:avLst/>
            <a:gdLst/>
            <a:ahLst/>
            <a:cxnLst/>
            <a:rect r="r" b="b" t="t" l="l"/>
            <a:pathLst>
              <a:path h="9403170" w="18339515">
                <a:moveTo>
                  <a:pt x="0" y="0"/>
                </a:moveTo>
                <a:lnTo>
                  <a:pt x="18339516" y="0"/>
                </a:lnTo>
                <a:lnTo>
                  <a:pt x="18339516" y="9403170"/>
                </a:lnTo>
                <a:lnTo>
                  <a:pt x="0" y="94031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03669" y="-206665"/>
            <a:ext cx="18695337" cy="4744221"/>
            <a:chOff x="0" y="0"/>
            <a:chExt cx="2896397" cy="73500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896397" cy="735004"/>
            </a:xfrm>
            <a:custGeom>
              <a:avLst/>
              <a:gdLst/>
              <a:ahLst/>
              <a:cxnLst/>
              <a:rect r="r" b="b" t="t" l="l"/>
              <a:pathLst>
                <a:path h="735004" w="2896397">
                  <a:moveTo>
                    <a:pt x="0" y="0"/>
                  </a:moveTo>
                  <a:lnTo>
                    <a:pt x="2896397" y="0"/>
                  </a:lnTo>
                  <a:lnTo>
                    <a:pt x="2896397" y="735004"/>
                  </a:lnTo>
                  <a:lnTo>
                    <a:pt x="0" y="735004"/>
                  </a:lnTo>
                  <a:close/>
                </a:path>
              </a:pathLst>
            </a:custGeom>
            <a:blipFill>
              <a:blip r:embed="rId3"/>
              <a:stretch>
                <a:fillRect l="0" t="-168860" r="0" b="-294089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94040" y="2728442"/>
            <a:ext cx="16495548" cy="6691928"/>
            <a:chOff x="0" y="0"/>
            <a:chExt cx="4344507" cy="176248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344507" cy="1762483"/>
            </a:xfrm>
            <a:custGeom>
              <a:avLst/>
              <a:gdLst/>
              <a:ahLst/>
              <a:cxnLst/>
              <a:rect r="r" b="b" t="t" l="l"/>
              <a:pathLst>
                <a:path h="1762483" w="4344507">
                  <a:moveTo>
                    <a:pt x="43648" y="0"/>
                  </a:moveTo>
                  <a:lnTo>
                    <a:pt x="4300858" y="0"/>
                  </a:lnTo>
                  <a:cubicBezTo>
                    <a:pt x="4312435" y="0"/>
                    <a:pt x="4323537" y="4599"/>
                    <a:pt x="4331722" y="12784"/>
                  </a:cubicBezTo>
                  <a:cubicBezTo>
                    <a:pt x="4339908" y="20970"/>
                    <a:pt x="4344507" y="32072"/>
                    <a:pt x="4344507" y="43648"/>
                  </a:cubicBezTo>
                  <a:lnTo>
                    <a:pt x="4344507" y="1718835"/>
                  </a:lnTo>
                  <a:cubicBezTo>
                    <a:pt x="4344507" y="1742941"/>
                    <a:pt x="4324965" y="1762483"/>
                    <a:pt x="4300858" y="1762483"/>
                  </a:cubicBezTo>
                  <a:lnTo>
                    <a:pt x="43648" y="1762483"/>
                  </a:lnTo>
                  <a:cubicBezTo>
                    <a:pt x="32072" y="1762483"/>
                    <a:pt x="20970" y="1757885"/>
                    <a:pt x="12784" y="1749699"/>
                  </a:cubicBezTo>
                  <a:cubicBezTo>
                    <a:pt x="4599" y="1741513"/>
                    <a:pt x="0" y="1730411"/>
                    <a:pt x="0" y="1718835"/>
                  </a:cubicBezTo>
                  <a:lnTo>
                    <a:pt x="0" y="43648"/>
                  </a:lnTo>
                  <a:cubicBezTo>
                    <a:pt x="0" y="19542"/>
                    <a:pt x="19542" y="0"/>
                    <a:pt x="43648" y="0"/>
                  </a:cubicBezTo>
                  <a:close/>
                </a:path>
              </a:pathLst>
            </a:custGeom>
            <a:solidFill>
              <a:srgbClr val="424242"/>
            </a:solidFill>
            <a:ln w="19050" cap="rnd">
              <a:solidFill>
                <a:srgbClr val="D0D7DD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4344507" cy="17910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486613" y="3122398"/>
            <a:ext cx="480334" cy="480334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A0CEFD">
                    <a:alpha val="100000"/>
                  </a:srgbClr>
                </a:gs>
                <a:gs pos="100000">
                  <a:srgbClr val="E4F2FF">
                    <a:alpha val="100000"/>
                  </a:srgbClr>
                </a:gs>
              </a:gsLst>
              <a:lin ang="0"/>
            </a:gradFill>
            <a:ln w="952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76200" y="142875"/>
              <a:ext cx="660400" cy="5937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0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601969" y="3630688"/>
            <a:ext cx="10156343" cy="15584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464"/>
              </a:lnSpc>
            </a:pPr>
            <a:r>
              <a:rPr lang="en-US" sz="12196" spc="-573" b="true">
                <a:solidFill>
                  <a:srgbClr val="FFFFF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Introduction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601969" y="6378362"/>
            <a:ext cx="6549654" cy="2192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Agents now act. They read untrusted pages, plan tool calls, and can email, pay, and export. The model is the planner. It is not the security boundary.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402391" y="6378362"/>
            <a:ext cx="6549654" cy="2192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Aegis is the control plane around that planner. Identity, scope, policy, DLP and EDR stay deterministic — even if a 4B local model is jailbroken.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242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925852">
            <a:off x="11466076" y="-4040445"/>
            <a:ext cx="9386678" cy="10557613"/>
          </a:xfrm>
          <a:custGeom>
            <a:avLst/>
            <a:gdLst/>
            <a:ahLst/>
            <a:cxnLst/>
            <a:rect r="r" b="b" t="t" l="l"/>
            <a:pathLst>
              <a:path h="10557613" w="9386678">
                <a:moveTo>
                  <a:pt x="0" y="0"/>
                </a:moveTo>
                <a:lnTo>
                  <a:pt x="9386678" y="0"/>
                </a:lnTo>
                <a:lnTo>
                  <a:pt x="9386678" y="10557613"/>
                </a:lnTo>
                <a:lnTo>
                  <a:pt x="0" y="105576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0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3566" y="647822"/>
            <a:ext cx="644940" cy="644940"/>
          </a:xfrm>
          <a:custGeom>
            <a:avLst/>
            <a:gdLst/>
            <a:ahLst/>
            <a:cxnLst/>
            <a:rect r="r" b="b" t="t" l="l"/>
            <a:pathLst>
              <a:path h="644940" w="644940">
                <a:moveTo>
                  <a:pt x="0" y="0"/>
                </a:moveTo>
                <a:lnTo>
                  <a:pt x="644939" y="0"/>
                </a:lnTo>
                <a:lnTo>
                  <a:pt x="644939" y="644940"/>
                </a:lnTo>
                <a:lnTo>
                  <a:pt x="0" y="644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964581" y="6163012"/>
            <a:ext cx="12299674" cy="5143500"/>
          </a:xfrm>
          <a:custGeom>
            <a:avLst/>
            <a:gdLst/>
            <a:ahLst/>
            <a:cxnLst/>
            <a:rect r="r" b="b" t="t" l="l"/>
            <a:pathLst>
              <a:path h="5143500" w="12299674">
                <a:moveTo>
                  <a:pt x="0" y="0"/>
                </a:moveTo>
                <a:lnTo>
                  <a:pt x="12299674" y="0"/>
                </a:lnTo>
                <a:lnTo>
                  <a:pt x="12299674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0999"/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4459903"/>
            <a:ext cx="16360888" cy="4960467"/>
            <a:chOff x="0" y="0"/>
            <a:chExt cx="4309041" cy="130646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309040" cy="1306461"/>
            </a:xfrm>
            <a:custGeom>
              <a:avLst/>
              <a:gdLst/>
              <a:ahLst/>
              <a:cxnLst/>
              <a:rect r="r" b="b" t="t" l="l"/>
              <a:pathLst>
                <a:path h="1306461" w="4309040">
                  <a:moveTo>
                    <a:pt x="44007" y="0"/>
                  </a:moveTo>
                  <a:lnTo>
                    <a:pt x="4265033" y="0"/>
                  </a:lnTo>
                  <a:cubicBezTo>
                    <a:pt x="4276704" y="0"/>
                    <a:pt x="4287898" y="4636"/>
                    <a:pt x="4296151" y="12889"/>
                  </a:cubicBezTo>
                  <a:cubicBezTo>
                    <a:pt x="4304404" y="21142"/>
                    <a:pt x="4309040" y="32336"/>
                    <a:pt x="4309040" y="44007"/>
                  </a:cubicBezTo>
                  <a:lnTo>
                    <a:pt x="4309040" y="1262453"/>
                  </a:lnTo>
                  <a:cubicBezTo>
                    <a:pt x="4309040" y="1274125"/>
                    <a:pt x="4304404" y="1285318"/>
                    <a:pt x="4296151" y="1293571"/>
                  </a:cubicBezTo>
                  <a:cubicBezTo>
                    <a:pt x="4287898" y="1301824"/>
                    <a:pt x="4276704" y="1306461"/>
                    <a:pt x="4265033" y="1306461"/>
                  </a:cubicBezTo>
                  <a:lnTo>
                    <a:pt x="44007" y="1306461"/>
                  </a:lnTo>
                  <a:cubicBezTo>
                    <a:pt x="32336" y="1306461"/>
                    <a:pt x="21142" y="1301824"/>
                    <a:pt x="12889" y="1293571"/>
                  </a:cubicBezTo>
                  <a:cubicBezTo>
                    <a:pt x="4636" y="1285318"/>
                    <a:pt x="0" y="1274125"/>
                    <a:pt x="0" y="1262453"/>
                  </a:cubicBezTo>
                  <a:lnTo>
                    <a:pt x="0" y="44007"/>
                  </a:lnTo>
                  <a:cubicBezTo>
                    <a:pt x="0" y="32336"/>
                    <a:pt x="4636" y="21142"/>
                    <a:pt x="12889" y="12889"/>
                  </a:cubicBezTo>
                  <a:cubicBezTo>
                    <a:pt x="21142" y="4636"/>
                    <a:pt x="32336" y="0"/>
                    <a:pt x="44007" y="0"/>
                  </a:cubicBezTo>
                  <a:close/>
                </a:path>
              </a:pathLst>
            </a:custGeom>
            <a:solidFill>
              <a:srgbClr val="424242"/>
            </a:solidFill>
            <a:ln w="19050" cap="rnd">
              <a:solidFill>
                <a:srgbClr val="D0D7DD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4309041" cy="13350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28700" y="2310636"/>
            <a:ext cx="13389009" cy="140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307"/>
              </a:lnSpc>
            </a:pPr>
            <a:r>
              <a:rPr lang="en-US" sz="10965" spc="-515" b="true">
                <a:solidFill>
                  <a:srgbClr val="FFFFF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Problem Statement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412776" y="5153025"/>
            <a:ext cx="3520737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b="true" sz="2600" spc="-122">
                <a:solidFill>
                  <a:srgbClr val="FFFFF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PROMPT INJECTION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927898" y="5153025"/>
            <a:ext cx="3520737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b="true" sz="2600" spc="-122">
                <a:solidFill>
                  <a:srgbClr val="FFFFF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MODEL ≠ FIREWALL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452546" y="5153025"/>
            <a:ext cx="3520737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b="true" sz="2600" spc="-122">
                <a:solidFill>
                  <a:srgbClr val="FFFFF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DETECT ≠ DENY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675526" y="650408"/>
            <a:ext cx="4474124" cy="587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8"/>
              </a:lnSpc>
            </a:pPr>
            <a:r>
              <a:rPr lang="en-US" sz="3477" spc="-163" b="true">
                <a:solidFill>
                  <a:srgbClr val="D0D7D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Aegis</a:t>
            </a:r>
          </a:p>
        </p:txBody>
      </p:sp>
      <p:sp>
        <p:nvSpPr>
          <p:cNvPr name="AutoShape 13" id="13"/>
          <p:cNvSpPr/>
          <p:nvPr/>
        </p:nvSpPr>
        <p:spPr>
          <a:xfrm>
            <a:off x="6307466" y="4936579"/>
            <a:ext cx="0" cy="3930176"/>
          </a:xfrm>
          <a:prstGeom prst="line">
            <a:avLst/>
          </a:prstGeom>
          <a:ln cap="flat" w="19050">
            <a:solidFill>
              <a:srgbClr val="D0D7D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11822589" y="4936579"/>
            <a:ext cx="0" cy="3930176"/>
          </a:xfrm>
          <a:prstGeom prst="line">
            <a:avLst/>
          </a:prstGeom>
          <a:ln cap="flat" w="19050">
            <a:solidFill>
              <a:srgbClr val="D0D7D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" id="15"/>
          <p:cNvGrpSpPr/>
          <p:nvPr/>
        </p:nvGrpSpPr>
        <p:grpSpPr>
          <a:xfrm rot="0">
            <a:off x="1615245" y="5146975"/>
            <a:ext cx="387050" cy="387050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A0CEFD">
                    <a:alpha val="100000"/>
                  </a:srgbClr>
                </a:gs>
                <a:gs pos="100000">
                  <a:srgbClr val="E4F2FF">
                    <a:alpha val="100000"/>
                  </a:srgbClr>
                </a:gs>
              </a:gsLst>
              <a:lin ang="0"/>
            </a:gradFill>
            <a:ln w="952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76200" y="142875"/>
              <a:ext cx="660400" cy="5937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0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7130368" y="5146975"/>
            <a:ext cx="387050" cy="387050"/>
            <a:chOff x="0" y="0"/>
            <a:chExt cx="812800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A0CEFD">
                    <a:alpha val="100000"/>
                  </a:srgbClr>
                </a:gs>
                <a:gs pos="100000">
                  <a:srgbClr val="E4F2FF">
                    <a:alpha val="100000"/>
                  </a:srgbClr>
                </a:gs>
              </a:gsLst>
              <a:lin ang="0"/>
            </a:gradFill>
            <a:ln w="952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76200" y="142875"/>
              <a:ext cx="660400" cy="5937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0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655015" y="5146975"/>
            <a:ext cx="387050" cy="387050"/>
            <a:chOff x="0" y="0"/>
            <a:chExt cx="812800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A0CEFD">
                    <a:alpha val="100000"/>
                  </a:srgbClr>
                </a:gs>
                <a:gs pos="100000">
                  <a:srgbClr val="E4F2FF">
                    <a:alpha val="100000"/>
                  </a:srgbClr>
                </a:gs>
              </a:gsLst>
              <a:lin ang="0"/>
            </a:gradFill>
            <a:ln w="952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76200" y="142875"/>
              <a:ext cx="660400" cy="5937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0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601969" y="6323754"/>
            <a:ext cx="3897288" cy="2221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spc="-65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Hidden HTML, CSS, comments and documents become the agent’s boss. The page looks clean. The payload is not.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117091" y="6323754"/>
            <a:ext cx="3897288" cy="2221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spc="-65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Asking the LLM to be careful still lets it propose the email, the export, the purchase. Language is not enforcement.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641739" y="6323754"/>
            <a:ext cx="3897288" cy="2221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spc="-65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A missed finding still needs an action deny. Most stacks stop at prompt filters. Aegis does not.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0D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2700000">
            <a:off x="-2109444" y="5046072"/>
            <a:ext cx="9290530" cy="6858100"/>
          </a:xfrm>
          <a:custGeom>
            <a:avLst/>
            <a:gdLst/>
            <a:ahLst/>
            <a:cxnLst/>
            <a:rect r="r" b="b" t="t" l="l"/>
            <a:pathLst>
              <a:path h="6858100" w="9290530">
                <a:moveTo>
                  <a:pt x="9290530" y="0"/>
                </a:moveTo>
                <a:lnTo>
                  <a:pt x="0" y="0"/>
                </a:lnTo>
                <a:lnTo>
                  <a:pt x="0" y="6858101"/>
                </a:lnTo>
                <a:lnTo>
                  <a:pt x="9290530" y="6858101"/>
                </a:lnTo>
                <a:lnTo>
                  <a:pt x="9290530" y="0"/>
                </a:lnTo>
                <a:close/>
              </a:path>
            </a:pathLst>
          </a:custGeom>
          <a:blipFill>
            <a:blip r:embed="rId2">
              <a:alphaModFix amt="24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3566" y="647822"/>
            <a:ext cx="644940" cy="644940"/>
          </a:xfrm>
          <a:custGeom>
            <a:avLst/>
            <a:gdLst/>
            <a:ahLst/>
            <a:cxnLst/>
            <a:rect r="r" b="b" t="t" l="l"/>
            <a:pathLst>
              <a:path h="644940" w="644940">
                <a:moveTo>
                  <a:pt x="0" y="0"/>
                </a:moveTo>
                <a:lnTo>
                  <a:pt x="644939" y="0"/>
                </a:lnTo>
                <a:lnTo>
                  <a:pt x="644939" y="644940"/>
                </a:lnTo>
                <a:lnTo>
                  <a:pt x="0" y="644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8592054" y="970292"/>
            <a:ext cx="8797534" cy="8385207"/>
            <a:chOff x="0" y="0"/>
            <a:chExt cx="2317046" cy="22084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17046" cy="2208450"/>
            </a:xfrm>
            <a:custGeom>
              <a:avLst/>
              <a:gdLst/>
              <a:ahLst/>
              <a:cxnLst/>
              <a:rect r="r" b="b" t="t" l="l"/>
              <a:pathLst>
                <a:path h="2208450" w="2317046">
                  <a:moveTo>
                    <a:pt x="81841" y="0"/>
                  </a:moveTo>
                  <a:lnTo>
                    <a:pt x="2235205" y="0"/>
                  </a:lnTo>
                  <a:cubicBezTo>
                    <a:pt x="2280405" y="0"/>
                    <a:pt x="2317046" y="36641"/>
                    <a:pt x="2317046" y="81841"/>
                  </a:cubicBezTo>
                  <a:lnTo>
                    <a:pt x="2317046" y="2126609"/>
                  </a:lnTo>
                  <a:cubicBezTo>
                    <a:pt x="2317046" y="2171808"/>
                    <a:pt x="2280405" y="2208450"/>
                    <a:pt x="2235205" y="2208450"/>
                  </a:cubicBezTo>
                  <a:lnTo>
                    <a:pt x="81841" y="2208450"/>
                  </a:lnTo>
                  <a:cubicBezTo>
                    <a:pt x="36641" y="2208450"/>
                    <a:pt x="0" y="2171808"/>
                    <a:pt x="0" y="2126609"/>
                  </a:cubicBezTo>
                  <a:lnTo>
                    <a:pt x="0" y="81841"/>
                  </a:lnTo>
                  <a:cubicBezTo>
                    <a:pt x="0" y="36641"/>
                    <a:pt x="36641" y="0"/>
                    <a:pt x="81841" y="0"/>
                  </a:cubicBezTo>
                  <a:close/>
                </a:path>
              </a:pathLst>
            </a:custGeom>
            <a:solidFill>
              <a:srgbClr val="D0D7DD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317046" cy="2237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9390363" y="4298319"/>
            <a:ext cx="1655355" cy="1607199"/>
          </a:xfrm>
          <a:custGeom>
            <a:avLst/>
            <a:gdLst/>
            <a:ahLst/>
            <a:cxnLst/>
            <a:rect r="r" b="b" t="t" l="l"/>
            <a:pathLst>
              <a:path h="1607199" w="1655355">
                <a:moveTo>
                  <a:pt x="0" y="0"/>
                </a:moveTo>
                <a:lnTo>
                  <a:pt x="1655355" y="0"/>
                </a:lnTo>
                <a:lnTo>
                  <a:pt x="1655355" y="1607199"/>
                </a:lnTo>
                <a:lnTo>
                  <a:pt x="0" y="160719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9464081" y="1556512"/>
            <a:ext cx="1583013" cy="1722632"/>
          </a:xfrm>
          <a:custGeom>
            <a:avLst/>
            <a:gdLst/>
            <a:ahLst/>
            <a:cxnLst/>
            <a:rect r="r" b="b" t="t" l="l"/>
            <a:pathLst>
              <a:path h="1722632" w="1583013">
                <a:moveTo>
                  <a:pt x="0" y="0"/>
                </a:moveTo>
                <a:lnTo>
                  <a:pt x="1583012" y="0"/>
                </a:lnTo>
                <a:lnTo>
                  <a:pt x="1583012" y="1722632"/>
                </a:lnTo>
                <a:lnTo>
                  <a:pt x="0" y="17226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9464081" y="6924693"/>
            <a:ext cx="1583013" cy="1583013"/>
          </a:xfrm>
          <a:custGeom>
            <a:avLst/>
            <a:gdLst/>
            <a:ahLst/>
            <a:cxnLst/>
            <a:rect r="r" b="b" t="t" l="l"/>
            <a:pathLst>
              <a:path h="1583013" w="1583013">
                <a:moveTo>
                  <a:pt x="0" y="0"/>
                </a:moveTo>
                <a:lnTo>
                  <a:pt x="1583012" y="0"/>
                </a:lnTo>
                <a:lnTo>
                  <a:pt x="1583012" y="1583012"/>
                </a:lnTo>
                <a:lnTo>
                  <a:pt x="0" y="158301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028700" y="5783877"/>
            <a:ext cx="6880469" cy="3562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12"/>
              </a:lnSpc>
            </a:pPr>
            <a:r>
              <a:rPr lang="en-US" sz="9800" spc="-460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Our Innovative Solutions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675526" y="650408"/>
            <a:ext cx="4633749" cy="587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8"/>
              </a:lnSpc>
            </a:pPr>
            <a:r>
              <a:rPr lang="en-US" sz="3477" spc="-163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Aegis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757389" y="1481961"/>
            <a:ext cx="5140506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spc="-122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Scope before planning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757389" y="4149530"/>
            <a:ext cx="5140506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spc="-122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Policy at the tool boundary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757389" y="2254334"/>
            <a:ext cx="4985294" cy="983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spc="-65">
                <a:solidFill>
                  <a:srgbClr val="424242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Injection, exfiltration and out-of-domain asks are refused before the model is given a tool-capable task.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757389" y="4921903"/>
            <a:ext cx="4985294" cy="983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spc="-65">
                <a:solidFill>
                  <a:srgbClr val="424242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Capability, labels, destination and approval are deterministic. Every deny carries a stable policy ID.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757389" y="6817098"/>
            <a:ext cx="5140506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spc="-122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Contain the session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757389" y="7589471"/>
            <a:ext cx="4985294" cy="983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spc="-65">
                <a:solidFill>
                  <a:srgbClr val="424242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Agent EDR records the run and can quarantine a compromised session so later tools cannot fire.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0D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77090" y="2231409"/>
            <a:ext cx="16714740" cy="10818995"/>
          </a:xfrm>
          <a:custGeom>
            <a:avLst/>
            <a:gdLst/>
            <a:ahLst/>
            <a:cxnLst/>
            <a:rect r="r" b="b" t="t" l="l"/>
            <a:pathLst>
              <a:path h="10818995" w="16714740">
                <a:moveTo>
                  <a:pt x="0" y="0"/>
                </a:moveTo>
                <a:lnTo>
                  <a:pt x="16714740" y="0"/>
                </a:lnTo>
                <a:lnTo>
                  <a:pt x="16714740" y="10818995"/>
                </a:lnTo>
                <a:lnTo>
                  <a:pt x="0" y="108189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4000"/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057770"/>
            <a:ext cx="16230600" cy="140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307"/>
              </a:lnSpc>
            </a:pPr>
            <a:r>
              <a:rPr lang="en-US" sz="10965" spc="-515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Discover Our Services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01975" y="3061729"/>
            <a:ext cx="7428904" cy="2998333"/>
            <a:chOff x="0" y="0"/>
            <a:chExt cx="1956584" cy="7896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56584" cy="789684"/>
            </a:xfrm>
            <a:custGeom>
              <a:avLst/>
              <a:gdLst/>
              <a:ahLst/>
              <a:cxnLst/>
              <a:rect r="r" b="b" t="t" l="l"/>
              <a:pathLst>
                <a:path h="789684" w="1956584">
                  <a:moveTo>
                    <a:pt x="68781" y="0"/>
                  </a:moveTo>
                  <a:lnTo>
                    <a:pt x="1887803" y="0"/>
                  </a:lnTo>
                  <a:cubicBezTo>
                    <a:pt x="1925790" y="0"/>
                    <a:pt x="1956584" y="30794"/>
                    <a:pt x="1956584" y="68781"/>
                  </a:cubicBezTo>
                  <a:lnTo>
                    <a:pt x="1956584" y="720904"/>
                  </a:lnTo>
                  <a:cubicBezTo>
                    <a:pt x="1956584" y="758890"/>
                    <a:pt x="1925790" y="789684"/>
                    <a:pt x="1887803" y="789684"/>
                  </a:cubicBezTo>
                  <a:lnTo>
                    <a:pt x="68781" y="789684"/>
                  </a:lnTo>
                  <a:cubicBezTo>
                    <a:pt x="30794" y="789684"/>
                    <a:pt x="0" y="758890"/>
                    <a:pt x="0" y="720904"/>
                  </a:cubicBezTo>
                  <a:lnTo>
                    <a:pt x="0" y="68781"/>
                  </a:lnTo>
                  <a:cubicBezTo>
                    <a:pt x="0" y="30794"/>
                    <a:pt x="30794" y="0"/>
                    <a:pt x="6878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A0CEFD">
                    <a:alpha val="100000"/>
                  </a:srgbClr>
                </a:gs>
                <a:gs pos="100000">
                  <a:srgbClr val="E4F2FF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1956584" cy="818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177090" y="3256012"/>
            <a:ext cx="1154202" cy="804358"/>
            <a:chOff x="0" y="0"/>
            <a:chExt cx="303987" cy="21184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03987" cy="211847"/>
            </a:xfrm>
            <a:custGeom>
              <a:avLst/>
              <a:gdLst/>
              <a:ahLst/>
              <a:cxnLst/>
              <a:rect r="r" b="b" t="t" l="l"/>
              <a:pathLst>
                <a:path h="211847" w="303987">
                  <a:moveTo>
                    <a:pt x="105924" y="0"/>
                  </a:moveTo>
                  <a:lnTo>
                    <a:pt x="198064" y="0"/>
                  </a:lnTo>
                  <a:cubicBezTo>
                    <a:pt x="256564" y="0"/>
                    <a:pt x="303987" y="47424"/>
                    <a:pt x="303987" y="105924"/>
                  </a:cubicBezTo>
                  <a:lnTo>
                    <a:pt x="303987" y="105924"/>
                  </a:lnTo>
                  <a:cubicBezTo>
                    <a:pt x="303987" y="134016"/>
                    <a:pt x="292827" y="160958"/>
                    <a:pt x="272963" y="180823"/>
                  </a:cubicBezTo>
                  <a:cubicBezTo>
                    <a:pt x="253098" y="200687"/>
                    <a:pt x="226156" y="211847"/>
                    <a:pt x="198064" y="211847"/>
                  </a:cubicBezTo>
                  <a:lnTo>
                    <a:pt x="105924" y="211847"/>
                  </a:lnTo>
                  <a:cubicBezTo>
                    <a:pt x="77831" y="211847"/>
                    <a:pt x="50889" y="200687"/>
                    <a:pt x="31024" y="180823"/>
                  </a:cubicBezTo>
                  <a:cubicBezTo>
                    <a:pt x="11160" y="160958"/>
                    <a:pt x="0" y="134016"/>
                    <a:pt x="0" y="105924"/>
                  </a:cubicBezTo>
                  <a:lnTo>
                    <a:pt x="0" y="105924"/>
                  </a:lnTo>
                  <a:cubicBezTo>
                    <a:pt x="0" y="77831"/>
                    <a:pt x="11160" y="50889"/>
                    <a:pt x="31024" y="31024"/>
                  </a:cubicBezTo>
                  <a:cubicBezTo>
                    <a:pt x="50889" y="11160"/>
                    <a:pt x="77831" y="0"/>
                    <a:pt x="105924" y="0"/>
                  </a:cubicBezTo>
                  <a:close/>
                </a:path>
              </a:pathLst>
            </a:custGeom>
            <a:solidFill>
              <a:srgbClr val="FFFFFF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303987" cy="2404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2134070" y="6507737"/>
            <a:ext cx="7428904" cy="2998333"/>
            <a:chOff x="0" y="0"/>
            <a:chExt cx="1956584" cy="78968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956584" cy="789684"/>
            </a:xfrm>
            <a:custGeom>
              <a:avLst/>
              <a:gdLst/>
              <a:ahLst/>
              <a:cxnLst/>
              <a:rect r="r" b="b" t="t" l="l"/>
              <a:pathLst>
                <a:path h="789684" w="1956584">
                  <a:moveTo>
                    <a:pt x="68781" y="0"/>
                  </a:moveTo>
                  <a:lnTo>
                    <a:pt x="1887803" y="0"/>
                  </a:lnTo>
                  <a:cubicBezTo>
                    <a:pt x="1925790" y="0"/>
                    <a:pt x="1956584" y="30794"/>
                    <a:pt x="1956584" y="68781"/>
                  </a:cubicBezTo>
                  <a:lnTo>
                    <a:pt x="1956584" y="720904"/>
                  </a:lnTo>
                  <a:cubicBezTo>
                    <a:pt x="1956584" y="758890"/>
                    <a:pt x="1925790" y="789684"/>
                    <a:pt x="1887803" y="789684"/>
                  </a:cubicBezTo>
                  <a:lnTo>
                    <a:pt x="68781" y="789684"/>
                  </a:lnTo>
                  <a:cubicBezTo>
                    <a:pt x="30794" y="789684"/>
                    <a:pt x="0" y="758890"/>
                    <a:pt x="0" y="720904"/>
                  </a:cubicBezTo>
                  <a:lnTo>
                    <a:pt x="0" y="68781"/>
                  </a:lnTo>
                  <a:cubicBezTo>
                    <a:pt x="0" y="30794"/>
                    <a:pt x="30794" y="0"/>
                    <a:pt x="68781" y="0"/>
                  </a:cubicBezTo>
                  <a:close/>
                </a:path>
              </a:pathLst>
            </a:custGeom>
            <a:solidFill>
              <a:srgbClr val="D0D7DD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1956584" cy="818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784269" y="3061729"/>
            <a:ext cx="7428904" cy="2998333"/>
            <a:chOff x="0" y="0"/>
            <a:chExt cx="1956584" cy="78968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956584" cy="789684"/>
            </a:xfrm>
            <a:custGeom>
              <a:avLst/>
              <a:gdLst/>
              <a:ahLst/>
              <a:cxnLst/>
              <a:rect r="r" b="b" t="t" l="l"/>
              <a:pathLst>
                <a:path h="789684" w="1956584">
                  <a:moveTo>
                    <a:pt x="68781" y="0"/>
                  </a:moveTo>
                  <a:lnTo>
                    <a:pt x="1887803" y="0"/>
                  </a:lnTo>
                  <a:cubicBezTo>
                    <a:pt x="1925790" y="0"/>
                    <a:pt x="1956584" y="30794"/>
                    <a:pt x="1956584" y="68781"/>
                  </a:cubicBezTo>
                  <a:lnTo>
                    <a:pt x="1956584" y="720904"/>
                  </a:lnTo>
                  <a:cubicBezTo>
                    <a:pt x="1956584" y="758890"/>
                    <a:pt x="1925790" y="789684"/>
                    <a:pt x="1887803" y="789684"/>
                  </a:cubicBezTo>
                  <a:lnTo>
                    <a:pt x="68781" y="789684"/>
                  </a:lnTo>
                  <a:cubicBezTo>
                    <a:pt x="30794" y="789684"/>
                    <a:pt x="0" y="758890"/>
                    <a:pt x="0" y="720904"/>
                  </a:cubicBezTo>
                  <a:lnTo>
                    <a:pt x="0" y="68781"/>
                  </a:lnTo>
                  <a:cubicBezTo>
                    <a:pt x="0" y="30794"/>
                    <a:pt x="30794" y="0"/>
                    <a:pt x="68781" y="0"/>
                  </a:cubicBezTo>
                  <a:close/>
                </a:path>
              </a:pathLst>
            </a:custGeom>
            <a:solidFill>
              <a:srgbClr val="D0D7DD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1956584" cy="818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062075" y="3256012"/>
            <a:ext cx="1154202" cy="804358"/>
            <a:chOff x="0" y="0"/>
            <a:chExt cx="303987" cy="21184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03987" cy="211847"/>
            </a:xfrm>
            <a:custGeom>
              <a:avLst/>
              <a:gdLst/>
              <a:ahLst/>
              <a:cxnLst/>
              <a:rect r="r" b="b" t="t" l="l"/>
              <a:pathLst>
                <a:path h="211847" w="303987">
                  <a:moveTo>
                    <a:pt x="105924" y="0"/>
                  </a:moveTo>
                  <a:lnTo>
                    <a:pt x="198064" y="0"/>
                  </a:lnTo>
                  <a:cubicBezTo>
                    <a:pt x="256564" y="0"/>
                    <a:pt x="303987" y="47424"/>
                    <a:pt x="303987" y="105924"/>
                  </a:cubicBezTo>
                  <a:lnTo>
                    <a:pt x="303987" y="105924"/>
                  </a:lnTo>
                  <a:cubicBezTo>
                    <a:pt x="303987" y="134016"/>
                    <a:pt x="292827" y="160958"/>
                    <a:pt x="272963" y="180823"/>
                  </a:cubicBezTo>
                  <a:cubicBezTo>
                    <a:pt x="253098" y="200687"/>
                    <a:pt x="226156" y="211847"/>
                    <a:pt x="198064" y="211847"/>
                  </a:cubicBezTo>
                  <a:lnTo>
                    <a:pt x="105924" y="211847"/>
                  </a:lnTo>
                  <a:cubicBezTo>
                    <a:pt x="77831" y="211847"/>
                    <a:pt x="50889" y="200687"/>
                    <a:pt x="31024" y="180823"/>
                  </a:cubicBezTo>
                  <a:cubicBezTo>
                    <a:pt x="11160" y="160958"/>
                    <a:pt x="0" y="134016"/>
                    <a:pt x="0" y="105924"/>
                  </a:cubicBezTo>
                  <a:lnTo>
                    <a:pt x="0" y="105924"/>
                  </a:lnTo>
                  <a:cubicBezTo>
                    <a:pt x="0" y="77831"/>
                    <a:pt x="11160" y="50889"/>
                    <a:pt x="31024" y="31024"/>
                  </a:cubicBezTo>
                  <a:cubicBezTo>
                    <a:pt x="50889" y="11160"/>
                    <a:pt x="77831" y="0"/>
                    <a:pt x="105924" y="0"/>
                  </a:cubicBezTo>
                  <a:close/>
                </a:path>
              </a:pathLst>
            </a:custGeom>
            <a:solidFill>
              <a:srgbClr val="FFFFFF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303987" cy="2404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482073" y="6736337"/>
            <a:ext cx="1154202" cy="804358"/>
            <a:chOff x="0" y="0"/>
            <a:chExt cx="303987" cy="21184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03987" cy="211847"/>
            </a:xfrm>
            <a:custGeom>
              <a:avLst/>
              <a:gdLst/>
              <a:ahLst/>
              <a:cxnLst/>
              <a:rect r="r" b="b" t="t" l="l"/>
              <a:pathLst>
                <a:path h="211847" w="303987">
                  <a:moveTo>
                    <a:pt x="105924" y="0"/>
                  </a:moveTo>
                  <a:lnTo>
                    <a:pt x="198064" y="0"/>
                  </a:lnTo>
                  <a:cubicBezTo>
                    <a:pt x="256564" y="0"/>
                    <a:pt x="303987" y="47424"/>
                    <a:pt x="303987" y="105924"/>
                  </a:cubicBezTo>
                  <a:lnTo>
                    <a:pt x="303987" y="105924"/>
                  </a:lnTo>
                  <a:cubicBezTo>
                    <a:pt x="303987" y="134016"/>
                    <a:pt x="292827" y="160958"/>
                    <a:pt x="272963" y="180823"/>
                  </a:cubicBezTo>
                  <a:cubicBezTo>
                    <a:pt x="253098" y="200687"/>
                    <a:pt x="226156" y="211847"/>
                    <a:pt x="198064" y="211847"/>
                  </a:cubicBezTo>
                  <a:lnTo>
                    <a:pt x="105924" y="211847"/>
                  </a:lnTo>
                  <a:cubicBezTo>
                    <a:pt x="77831" y="211847"/>
                    <a:pt x="50889" y="200687"/>
                    <a:pt x="31024" y="180823"/>
                  </a:cubicBezTo>
                  <a:cubicBezTo>
                    <a:pt x="11160" y="160958"/>
                    <a:pt x="0" y="134016"/>
                    <a:pt x="0" y="105924"/>
                  </a:cubicBezTo>
                  <a:lnTo>
                    <a:pt x="0" y="105924"/>
                  </a:lnTo>
                  <a:cubicBezTo>
                    <a:pt x="0" y="77831"/>
                    <a:pt x="11160" y="50889"/>
                    <a:pt x="31024" y="31024"/>
                  </a:cubicBezTo>
                  <a:cubicBezTo>
                    <a:pt x="50889" y="11160"/>
                    <a:pt x="77831" y="0"/>
                    <a:pt x="105924" y="0"/>
                  </a:cubicBezTo>
                  <a:close/>
                </a:path>
              </a:pathLst>
            </a:custGeom>
            <a:solidFill>
              <a:srgbClr val="FFFFFF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28575"/>
              <a:ext cx="303987" cy="2404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9214039" y="3484462"/>
            <a:ext cx="819524" cy="452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3"/>
              </a:lnSpc>
            </a:pPr>
            <a:r>
              <a:rPr lang="en-US" b="true" sz="3600" spc="-169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02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634037" y="6964786"/>
            <a:ext cx="819524" cy="452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3"/>
              </a:lnSpc>
            </a:pPr>
            <a:r>
              <a:rPr lang="en-US" b="true" sz="3600" spc="-169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03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548928" y="3460643"/>
            <a:ext cx="4815344" cy="452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3"/>
              </a:lnSpc>
            </a:pPr>
            <a:r>
              <a:rPr lang="en-US" sz="3600" spc="-169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Scope Guard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968926" y="6940967"/>
            <a:ext cx="4815344" cy="452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3"/>
              </a:lnSpc>
            </a:pPr>
            <a:r>
              <a:rPr lang="en-US" sz="3600" spc="-169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Policy Firewall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0016364" y="6507737"/>
            <a:ext cx="7428904" cy="2998333"/>
            <a:chOff x="0" y="0"/>
            <a:chExt cx="1956584" cy="78968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956584" cy="789684"/>
            </a:xfrm>
            <a:custGeom>
              <a:avLst/>
              <a:gdLst/>
              <a:ahLst/>
              <a:cxnLst/>
              <a:rect r="r" b="b" t="t" l="l"/>
              <a:pathLst>
                <a:path h="789684" w="1956584">
                  <a:moveTo>
                    <a:pt x="68781" y="0"/>
                  </a:moveTo>
                  <a:lnTo>
                    <a:pt x="1887803" y="0"/>
                  </a:lnTo>
                  <a:cubicBezTo>
                    <a:pt x="1925790" y="0"/>
                    <a:pt x="1956584" y="30794"/>
                    <a:pt x="1956584" y="68781"/>
                  </a:cubicBezTo>
                  <a:lnTo>
                    <a:pt x="1956584" y="720904"/>
                  </a:lnTo>
                  <a:cubicBezTo>
                    <a:pt x="1956584" y="758890"/>
                    <a:pt x="1925790" y="789684"/>
                    <a:pt x="1887803" y="789684"/>
                  </a:cubicBezTo>
                  <a:lnTo>
                    <a:pt x="68781" y="789684"/>
                  </a:lnTo>
                  <a:cubicBezTo>
                    <a:pt x="30794" y="789684"/>
                    <a:pt x="0" y="758890"/>
                    <a:pt x="0" y="720904"/>
                  </a:cubicBezTo>
                  <a:lnTo>
                    <a:pt x="0" y="68781"/>
                  </a:lnTo>
                  <a:cubicBezTo>
                    <a:pt x="0" y="30794"/>
                    <a:pt x="30794" y="0"/>
                    <a:pt x="6878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A0CEFD">
                    <a:alpha val="100000"/>
                  </a:srgbClr>
                </a:gs>
                <a:gs pos="100000">
                  <a:srgbClr val="E4F2FF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28575"/>
              <a:ext cx="1956584" cy="818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0345740" y="6736337"/>
            <a:ext cx="1154202" cy="804358"/>
            <a:chOff x="0" y="0"/>
            <a:chExt cx="303987" cy="211847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03987" cy="211847"/>
            </a:xfrm>
            <a:custGeom>
              <a:avLst/>
              <a:gdLst/>
              <a:ahLst/>
              <a:cxnLst/>
              <a:rect r="r" b="b" t="t" l="l"/>
              <a:pathLst>
                <a:path h="211847" w="303987">
                  <a:moveTo>
                    <a:pt x="105924" y="0"/>
                  </a:moveTo>
                  <a:lnTo>
                    <a:pt x="198064" y="0"/>
                  </a:lnTo>
                  <a:cubicBezTo>
                    <a:pt x="256564" y="0"/>
                    <a:pt x="303987" y="47424"/>
                    <a:pt x="303987" y="105924"/>
                  </a:cubicBezTo>
                  <a:lnTo>
                    <a:pt x="303987" y="105924"/>
                  </a:lnTo>
                  <a:cubicBezTo>
                    <a:pt x="303987" y="134016"/>
                    <a:pt x="292827" y="160958"/>
                    <a:pt x="272963" y="180823"/>
                  </a:cubicBezTo>
                  <a:cubicBezTo>
                    <a:pt x="253098" y="200687"/>
                    <a:pt x="226156" y="211847"/>
                    <a:pt x="198064" y="211847"/>
                  </a:cubicBezTo>
                  <a:lnTo>
                    <a:pt x="105924" y="211847"/>
                  </a:lnTo>
                  <a:cubicBezTo>
                    <a:pt x="77831" y="211847"/>
                    <a:pt x="50889" y="200687"/>
                    <a:pt x="31024" y="180823"/>
                  </a:cubicBezTo>
                  <a:cubicBezTo>
                    <a:pt x="11160" y="160958"/>
                    <a:pt x="0" y="134016"/>
                    <a:pt x="0" y="105924"/>
                  </a:cubicBezTo>
                  <a:lnTo>
                    <a:pt x="0" y="105924"/>
                  </a:lnTo>
                  <a:cubicBezTo>
                    <a:pt x="0" y="77831"/>
                    <a:pt x="11160" y="50889"/>
                    <a:pt x="31024" y="31024"/>
                  </a:cubicBezTo>
                  <a:cubicBezTo>
                    <a:pt x="50889" y="11160"/>
                    <a:pt x="77831" y="0"/>
                    <a:pt x="105924" y="0"/>
                  </a:cubicBezTo>
                  <a:close/>
                </a:path>
              </a:pathLst>
            </a:custGeom>
            <a:solidFill>
              <a:srgbClr val="FFFFFF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28575"/>
              <a:ext cx="303987" cy="2404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10497704" y="6964786"/>
            <a:ext cx="819524" cy="452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3"/>
              </a:lnSpc>
            </a:pPr>
            <a:r>
              <a:rPr lang="en-US" b="true" sz="3600" spc="-169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04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1832593" y="6940967"/>
            <a:ext cx="4815344" cy="452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3"/>
              </a:lnSpc>
            </a:pPr>
            <a:r>
              <a:rPr lang="en-US" sz="3600" spc="-169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Agent EDR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1832593" y="7612332"/>
            <a:ext cx="4815344" cy="1478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spc="-65">
                <a:solidFill>
                  <a:srgbClr val="424242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A causal trace the judge can read. Containment when the session looks compromised.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329054" y="3484462"/>
            <a:ext cx="819524" cy="452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3"/>
              </a:lnSpc>
            </a:pPr>
            <a:r>
              <a:rPr lang="en-US" b="true" sz="3600" spc="-169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01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2663943" y="3460643"/>
            <a:ext cx="4815344" cy="452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3"/>
              </a:lnSpc>
            </a:pPr>
            <a:r>
              <a:rPr lang="en-US" sz="3600" spc="-169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Identity &amp; RBAC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2663943" y="4132007"/>
            <a:ext cx="4815344" cy="1478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spc="-65">
                <a:solidFill>
                  <a:srgbClr val="424242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Role, clearance and reporting line are data. The model cannot grant itself a tool.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0548928" y="4132007"/>
            <a:ext cx="4815344" cy="1478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spc="-65">
                <a:solidFill>
                  <a:srgbClr val="424242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RBAC, DLP, provenance and approval — independent of whatever the model believed.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3968926" y="7612332"/>
            <a:ext cx="4815344" cy="1478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spc="-65">
                <a:solidFill>
                  <a:srgbClr val="424242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POL-SCOPE-001 / 002 stop injection and sensitive egress before planning starts.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242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37808" y="785313"/>
            <a:ext cx="8472987" cy="8472987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A0CEFD">
                    <a:alpha val="50000"/>
                  </a:srgbClr>
                </a:gs>
                <a:gs pos="100000">
                  <a:srgbClr val="E4F2FF">
                    <a:alpha val="50000"/>
                  </a:srgbClr>
                </a:gs>
              </a:gsLst>
              <a:lin ang="0"/>
            </a:gradFill>
            <a:ln w="38100" cap="sq">
              <a:solidFill>
                <a:srgbClr val="FFFF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76200" y="142875"/>
              <a:ext cx="660400" cy="5937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64223" y="3602732"/>
            <a:ext cx="18339515" cy="9403170"/>
          </a:xfrm>
          <a:custGeom>
            <a:avLst/>
            <a:gdLst/>
            <a:ahLst/>
            <a:cxnLst/>
            <a:rect r="r" b="b" t="t" l="l"/>
            <a:pathLst>
              <a:path h="9403170" w="18339515">
                <a:moveTo>
                  <a:pt x="0" y="0"/>
                </a:moveTo>
                <a:lnTo>
                  <a:pt x="18339516" y="0"/>
                </a:lnTo>
                <a:lnTo>
                  <a:pt x="18339516" y="9403170"/>
                </a:lnTo>
                <a:lnTo>
                  <a:pt x="0" y="94031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53566" y="647822"/>
            <a:ext cx="644940" cy="644940"/>
          </a:xfrm>
          <a:custGeom>
            <a:avLst/>
            <a:gdLst/>
            <a:ahLst/>
            <a:cxnLst/>
            <a:rect r="r" b="b" t="t" l="l"/>
            <a:pathLst>
              <a:path h="644940" w="644940">
                <a:moveTo>
                  <a:pt x="0" y="0"/>
                </a:moveTo>
                <a:lnTo>
                  <a:pt x="644939" y="0"/>
                </a:lnTo>
                <a:lnTo>
                  <a:pt x="644939" y="644940"/>
                </a:lnTo>
                <a:lnTo>
                  <a:pt x="0" y="644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975759" y="5622224"/>
            <a:ext cx="3845596" cy="3845596"/>
          </a:xfrm>
          <a:custGeom>
            <a:avLst/>
            <a:gdLst/>
            <a:ahLst/>
            <a:cxnLst/>
            <a:rect r="r" b="b" t="t" l="l"/>
            <a:pathLst>
              <a:path h="3845596" w="3845596">
                <a:moveTo>
                  <a:pt x="0" y="0"/>
                </a:moveTo>
                <a:lnTo>
                  <a:pt x="3845596" y="0"/>
                </a:lnTo>
                <a:lnTo>
                  <a:pt x="3845596" y="3845596"/>
                </a:lnTo>
                <a:lnTo>
                  <a:pt x="0" y="38455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28700" y="2348736"/>
            <a:ext cx="6320637" cy="3003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468"/>
              </a:lnSpc>
            </a:pPr>
            <a:r>
              <a:rPr lang="en-US" sz="12200" spc="-573" b="true">
                <a:solidFill>
                  <a:srgbClr val="FFFFF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Size of Market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6378362"/>
            <a:ext cx="5438507" cy="2821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Every tool-using agent is a new identity with new authority. The category is not “safer prompts”. It is a control plane.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599159" y="6226561"/>
            <a:ext cx="3392911" cy="701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 spc="-9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Attack actions blocked — including the detector bypass.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349337" y="6647591"/>
            <a:ext cx="5098441" cy="15525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55"/>
              </a:lnSpc>
            </a:pPr>
            <a:r>
              <a:rPr lang="en-US" b="true" sz="12186" spc="-572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0%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059175" y="3742816"/>
            <a:ext cx="6472880" cy="23481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390"/>
              </a:lnSpc>
            </a:pPr>
            <a:r>
              <a:rPr lang="en-US" b="true" sz="18500" spc="-869">
                <a:solidFill>
                  <a:srgbClr val="FFFFF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100%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21934" y="8171609"/>
            <a:ext cx="2753246" cy="488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b="true" sz="1400" spc="-65">
                <a:solidFill>
                  <a:srgbClr val="42424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False positives on the benign corpus. Detection can miss. Enforcement does not.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75526" y="650408"/>
            <a:ext cx="5571547" cy="587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8"/>
              </a:lnSpc>
            </a:pPr>
            <a:r>
              <a:rPr lang="en-US" sz="3477" spc="-163" b="true">
                <a:solidFill>
                  <a:srgbClr val="D0D7DD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Aegis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242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744741" y="-1712143"/>
            <a:ext cx="13720908" cy="8881170"/>
          </a:xfrm>
          <a:custGeom>
            <a:avLst/>
            <a:gdLst/>
            <a:ahLst/>
            <a:cxnLst/>
            <a:rect r="r" b="b" t="t" l="l"/>
            <a:pathLst>
              <a:path h="8881170" w="13720908">
                <a:moveTo>
                  <a:pt x="0" y="0"/>
                </a:moveTo>
                <a:lnTo>
                  <a:pt x="13720908" y="0"/>
                </a:lnTo>
                <a:lnTo>
                  <a:pt x="13720908" y="8881170"/>
                </a:lnTo>
                <a:lnTo>
                  <a:pt x="0" y="88811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4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966414" y="3338967"/>
            <a:ext cx="13720908" cy="8881170"/>
          </a:xfrm>
          <a:custGeom>
            <a:avLst/>
            <a:gdLst/>
            <a:ahLst/>
            <a:cxnLst/>
            <a:rect r="r" b="b" t="t" l="l"/>
            <a:pathLst>
              <a:path h="8881170" w="13720908">
                <a:moveTo>
                  <a:pt x="0" y="0"/>
                </a:moveTo>
                <a:lnTo>
                  <a:pt x="13720908" y="0"/>
                </a:lnTo>
                <a:lnTo>
                  <a:pt x="13720908" y="8881169"/>
                </a:lnTo>
                <a:lnTo>
                  <a:pt x="0" y="88811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4000"/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894040" y="869138"/>
            <a:ext cx="16495548" cy="8551233"/>
            <a:chOff x="0" y="0"/>
            <a:chExt cx="4344507" cy="225217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344507" cy="2252176"/>
            </a:xfrm>
            <a:custGeom>
              <a:avLst/>
              <a:gdLst/>
              <a:ahLst/>
              <a:cxnLst/>
              <a:rect r="r" b="b" t="t" l="l"/>
              <a:pathLst>
                <a:path h="2252176" w="4344507">
                  <a:moveTo>
                    <a:pt x="43648" y="0"/>
                  </a:moveTo>
                  <a:lnTo>
                    <a:pt x="4300858" y="0"/>
                  </a:lnTo>
                  <a:cubicBezTo>
                    <a:pt x="4312435" y="0"/>
                    <a:pt x="4323537" y="4599"/>
                    <a:pt x="4331722" y="12784"/>
                  </a:cubicBezTo>
                  <a:cubicBezTo>
                    <a:pt x="4339908" y="20970"/>
                    <a:pt x="4344507" y="32072"/>
                    <a:pt x="4344507" y="43648"/>
                  </a:cubicBezTo>
                  <a:lnTo>
                    <a:pt x="4344507" y="2208528"/>
                  </a:lnTo>
                  <a:cubicBezTo>
                    <a:pt x="4344507" y="2232635"/>
                    <a:pt x="4324965" y="2252176"/>
                    <a:pt x="4300858" y="2252176"/>
                  </a:cubicBezTo>
                  <a:lnTo>
                    <a:pt x="43648" y="2252176"/>
                  </a:lnTo>
                  <a:cubicBezTo>
                    <a:pt x="19542" y="2252176"/>
                    <a:pt x="0" y="2232635"/>
                    <a:pt x="0" y="2208528"/>
                  </a:cubicBezTo>
                  <a:lnTo>
                    <a:pt x="0" y="43648"/>
                  </a:lnTo>
                  <a:cubicBezTo>
                    <a:pt x="0" y="19542"/>
                    <a:pt x="19542" y="0"/>
                    <a:pt x="43648" y="0"/>
                  </a:cubicBezTo>
                  <a:close/>
                </a:path>
              </a:pathLst>
            </a:custGeom>
            <a:solidFill>
              <a:srgbClr val="424242"/>
            </a:solidFill>
            <a:ln w="19050" cap="rnd">
              <a:solidFill>
                <a:srgbClr val="D0D7DD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4344507" cy="22807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sp>
        <p:nvSpPr>
          <p:cNvPr name="AutoShape 7" id="7"/>
          <p:cNvSpPr/>
          <p:nvPr/>
        </p:nvSpPr>
        <p:spPr>
          <a:xfrm>
            <a:off x="9153525" y="1252292"/>
            <a:ext cx="0" cy="7700200"/>
          </a:xfrm>
          <a:prstGeom prst="line">
            <a:avLst/>
          </a:prstGeom>
          <a:ln cap="flat" w="19050">
            <a:solidFill>
              <a:srgbClr val="D0D7D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1453325" y="4388336"/>
            <a:ext cx="6839327" cy="0"/>
          </a:xfrm>
          <a:prstGeom prst="line">
            <a:avLst/>
          </a:prstGeom>
          <a:ln cap="flat" w="19050">
            <a:solidFill>
              <a:srgbClr val="D0D7D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10010775" y="4388336"/>
            <a:ext cx="6839327" cy="0"/>
          </a:xfrm>
          <a:prstGeom prst="line">
            <a:avLst/>
          </a:prstGeom>
          <a:ln cap="flat" w="19050">
            <a:solidFill>
              <a:srgbClr val="D0D7D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0" id="10"/>
          <p:cNvSpPr txBox="true"/>
          <p:nvPr/>
        </p:nvSpPr>
        <p:spPr>
          <a:xfrm rot="0">
            <a:off x="1648404" y="1512059"/>
            <a:ext cx="6485946" cy="2211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460"/>
              </a:lnSpc>
            </a:pPr>
            <a:r>
              <a:rPr lang="en-US" sz="9000" spc="-422" b="true">
                <a:solidFill>
                  <a:srgbClr val="FFFFF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Direct Competitor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010775" y="1512059"/>
            <a:ext cx="6485946" cy="2211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460"/>
              </a:lnSpc>
              <a:spcBef>
                <a:spcPct val="0"/>
              </a:spcBef>
            </a:pPr>
            <a:r>
              <a:rPr lang="en-US" b="true" sz="9000" spc="-422" strike="noStrike" u="none">
                <a:solidFill>
                  <a:srgbClr val="FFFFF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Indirect Competitor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648404" y="5106654"/>
            <a:ext cx="6485946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Prompt filters and LLM-as-judge guards that still trust the model to comply.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010775" y="5106654"/>
            <a:ext cx="6485946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Guardrail SDKs that wrap generation, then hand the agent a live tool handle.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48404" y="6233672"/>
            <a:ext cx="6485946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“Just RAG it” stacks with no action policy and no session containment.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010775" y="6233672"/>
            <a:ext cx="6485946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Classic DLP, EDR and IAM that never see the agent session.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48404" y="7360689"/>
            <a:ext cx="6485946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Browser isolation that stops at fetch and never judges the tool call.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010775" y="7360689"/>
            <a:ext cx="6485946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Human review queues that cannot keep up with machine-speed side effects.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0D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444323" y="4944233"/>
            <a:ext cx="12249089" cy="7928501"/>
          </a:xfrm>
          <a:custGeom>
            <a:avLst/>
            <a:gdLst/>
            <a:ahLst/>
            <a:cxnLst/>
            <a:rect r="r" b="b" t="t" l="l"/>
            <a:pathLst>
              <a:path h="7928501" w="12249089">
                <a:moveTo>
                  <a:pt x="0" y="0"/>
                </a:moveTo>
                <a:lnTo>
                  <a:pt x="12249089" y="0"/>
                </a:lnTo>
                <a:lnTo>
                  <a:pt x="12249089" y="7928502"/>
                </a:lnTo>
                <a:lnTo>
                  <a:pt x="0" y="79285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029508" y="-206665"/>
            <a:ext cx="8462161" cy="10660428"/>
            <a:chOff x="0" y="0"/>
            <a:chExt cx="1311010" cy="165157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311010" cy="1651579"/>
            </a:xfrm>
            <a:custGeom>
              <a:avLst/>
              <a:gdLst/>
              <a:ahLst/>
              <a:cxnLst/>
              <a:rect r="r" b="b" t="t" l="l"/>
              <a:pathLst>
                <a:path h="1651579" w="1311010">
                  <a:moveTo>
                    <a:pt x="0" y="0"/>
                  </a:moveTo>
                  <a:lnTo>
                    <a:pt x="1311010" y="0"/>
                  </a:lnTo>
                  <a:lnTo>
                    <a:pt x="1311010" y="1651579"/>
                  </a:lnTo>
                  <a:lnTo>
                    <a:pt x="0" y="1651579"/>
                  </a:lnTo>
                  <a:close/>
                </a:path>
              </a:pathLst>
            </a:custGeom>
            <a:blipFill>
              <a:blip r:embed="rId3"/>
              <a:stretch>
                <a:fillRect l="-44365" t="0" r="-44365" b="0"/>
              </a:stretch>
            </a:blipFill>
            <a:ln w="19050" cap="sq">
              <a:solidFill>
                <a:srgbClr val="424242"/>
              </a:solidFill>
              <a:prstDash val="solid"/>
              <a:miter/>
            </a:ln>
          </p:spPr>
        </p:sp>
      </p:grpSp>
      <p:grpSp>
        <p:nvGrpSpPr>
          <p:cNvPr name="Group 5" id="5"/>
          <p:cNvGrpSpPr/>
          <p:nvPr/>
        </p:nvGrpSpPr>
        <p:grpSpPr>
          <a:xfrm rot="0">
            <a:off x="909014" y="5439742"/>
            <a:ext cx="16489920" cy="4066328"/>
            <a:chOff x="0" y="0"/>
            <a:chExt cx="4343024" cy="107096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343024" cy="1070967"/>
            </a:xfrm>
            <a:custGeom>
              <a:avLst/>
              <a:gdLst/>
              <a:ahLst/>
              <a:cxnLst/>
              <a:rect r="r" b="b" t="t" l="l"/>
              <a:pathLst>
                <a:path h="1070967" w="4343024">
                  <a:moveTo>
                    <a:pt x="30987" y="0"/>
                  </a:moveTo>
                  <a:lnTo>
                    <a:pt x="4312038" y="0"/>
                  </a:lnTo>
                  <a:cubicBezTo>
                    <a:pt x="4320256" y="0"/>
                    <a:pt x="4328137" y="3265"/>
                    <a:pt x="4333949" y="9076"/>
                  </a:cubicBezTo>
                  <a:cubicBezTo>
                    <a:pt x="4339760" y="14887"/>
                    <a:pt x="4343024" y="22768"/>
                    <a:pt x="4343024" y="30987"/>
                  </a:cubicBezTo>
                  <a:lnTo>
                    <a:pt x="4343024" y="1039980"/>
                  </a:lnTo>
                  <a:cubicBezTo>
                    <a:pt x="4343024" y="1048199"/>
                    <a:pt x="4339760" y="1056080"/>
                    <a:pt x="4333949" y="1061891"/>
                  </a:cubicBezTo>
                  <a:cubicBezTo>
                    <a:pt x="4328137" y="1067702"/>
                    <a:pt x="4320256" y="1070967"/>
                    <a:pt x="4312038" y="1070967"/>
                  </a:cubicBezTo>
                  <a:lnTo>
                    <a:pt x="30987" y="1070967"/>
                  </a:lnTo>
                  <a:cubicBezTo>
                    <a:pt x="22768" y="1070967"/>
                    <a:pt x="14887" y="1067702"/>
                    <a:pt x="9076" y="1061891"/>
                  </a:cubicBezTo>
                  <a:cubicBezTo>
                    <a:pt x="3265" y="1056080"/>
                    <a:pt x="0" y="1048199"/>
                    <a:pt x="0" y="1039980"/>
                  </a:cubicBezTo>
                  <a:lnTo>
                    <a:pt x="0" y="30987"/>
                  </a:lnTo>
                  <a:cubicBezTo>
                    <a:pt x="0" y="22768"/>
                    <a:pt x="3265" y="14887"/>
                    <a:pt x="9076" y="9076"/>
                  </a:cubicBezTo>
                  <a:cubicBezTo>
                    <a:pt x="14887" y="3265"/>
                    <a:pt x="22768" y="0"/>
                    <a:pt x="30987" y="0"/>
                  </a:cubicBezTo>
                  <a:close/>
                </a:path>
              </a:pathLst>
            </a:custGeom>
            <a:solidFill>
              <a:srgbClr val="D0D7DD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4343024" cy="10995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28700" y="992813"/>
            <a:ext cx="7419057" cy="3562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12"/>
              </a:lnSpc>
            </a:pPr>
            <a:r>
              <a:rPr lang="en-US" sz="9800" spc="-460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Key Competitive Advantages</a:t>
            </a:r>
          </a:p>
        </p:txBody>
      </p:sp>
      <p:sp>
        <p:nvSpPr>
          <p:cNvPr name="AutoShape 9" id="9"/>
          <p:cNvSpPr/>
          <p:nvPr/>
        </p:nvSpPr>
        <p:spPr>
          <a:xfrm>
            <a:off x="6266228" y="5794330"/>
            <a:ext cx="0" cy="3293360"/>
          </a:xfrm>
          <a:prstGeom prst="line">
            <a:avLst/>
          </a:prstGeom>
          <a:ln cap="flat" w="19050">
            <a:solidFill>
              <a:srgbClr val="42424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11825288" y="5794330"/>
            <a:ext cx="0" cy="3293360"/>
          </a:xfrm>
          <a:prstGeom prst="line">
            <a:avLst/>
          </a:prstGeom>
          <a:ln cap="flat" w="19050">
            <a:solidFill>
              <a:srgbClr val="42424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1" id="11"/>
          <p:cNvSpPr txBox="true"/>
          <p:nvPr/>
        </p:nvSpPr>
        <p:spPr>
          <a:xfrm rot="0">
            <a:off x="1490921" y="6131646"/>
            <a:ext cx="3640637" cy="452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3"/>
              </a:lnSpc>
            </a:pPr>
            <a:r>
              <a:rPr lang="en-US" sz="3600" spc="-169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Outside the model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008037" y="6131646"/>
            <a:ext cx="3640637" cy="452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3"/>
              </a:lnSpc>
            </a:pPr>
            <a:r>
              <a:rPr lang="en-US" sz="3600" spc="-169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Provenance, not vibes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90921" y="7105719"/>
            <a:ext cx="4158326" cy="1726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spc="-65">
                <a:solidFill>
                  <a:srgbClr val="424242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The 4B planner proposes a short plan only. It has no tool handle and cannot authorise itself.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008037" y="7105719"/>
            <a:ext cx="4158326" cy="1726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spc="-65">
                <a:solidFill>
                  <a:srgbClr val="424242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Facts are labeled EXTERNAL_EVIDENCE. Suspicious text cannot drive an outbound action.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567096" y="6131646"/>
            <a:ext cx="3640637" cy="452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3"/>
              </a:lnSpc>
            </a:pPr>
            <a:r>
              <a:rPr lang="en-US" sz="3600" spc="-169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Miss and still deny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567096" y="7105719"/>
            <a:ext cx="4158326" cy="1726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spc="-65">
                <a:solidFill>
                  <a:srgbClr val="424242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Detection is 0.75 by design — the bypass counts. Action blocking is 1.0. That is the point.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0D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977201">
            <a:off x="8302125" y="-801031"/>
            <a:ext cx="12791303" cy="9442307"/>
          </a:xfrm>
          <a:custGeom>
            <a:avLst/>
            <a:gdLst/>
            <a:ahLst/>
            <a:cxnLst/>
            <a:rect r="r" b="b" t="t" l="l"/>
            <a:pathLst>
              <a:path h="9442307" w="12791303">
                <a:moveTo>
                  <a:pt x="0" y="0"/>
                </a:moveTo>
                <a:lnTo>
                  <a:pt x="12791302" y="0"/>
                </a:lnTo>
                <a:lnTo>
                  <a:pt x="12791302" y="9442307"/>
                </a:lnTo>
                <a:lnTo>
                  <a:pt x="0" y="94423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000"/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098290"/>
            <a:ext cx="7400664" cy="15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468"/>
              </a:lnSpc>
            </a:pPr>
            <a:r>
              <a:rPr lang="en-US" sz="12200" spc="-573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Traction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520513"/>
            <a:ext cx="6867724" cy="2192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spc="-84">
                <a:solidFill>
                  <a:srgbClr val="424242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Six synthetic Northstar Freight cases, run live. Alignment is a regression check for this demo — not a production-safety claim.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90261" y="6433653"/>
            <a:ext cx="7006162" cy="750614"/>
            <a:chOff x="0" y="0"/>
            <a:chExt cx="1845244" cy="19769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5245" cy="197693"/>
            </a:xfrm>
            <a:custGeom>
              <a:avLst/>
              <a:gdLst/>
              <a:ahLst/>
              <a:cxnLst/>
              <a:rect r="r" b="b" t="t" l="l"/>
              <a:pathLst>
                <a:path h="197693" w="1845245">
                  <a:moveTo>
                    <a:pt x="72931" y="0"/>
                  </a:moveTo>
                  <a:lnTo>
                    <a:pt x="1772314" y="0"/>
                  </a:lnTo>
                  <a:cubicBezTo>
                    <a:pt x="1791656" y="0"/>
                    <a:pt x="1810206" y="7684"/>
                    <a:pt x="1823884" y="21361"/>
                  </a:cubicBezTo>
                  <a:cubicBezTo>
                    <a:pt x="1837561" y="35038"/>
                    <a:pt x="1845245" y="53589"/>
                    <a:pt x="1845245" y="72931"/>
                  </a:cubicBezTo>
                  <a:lnTo>
                    <a:pt x="1845245" y="124762"/>
                  </a:lnTo>
                  <a:cubicBezTo>
                    <a:pt x="1845245" y="144104"/>
                    <a:pt x="1837561" y="162654"/>
                    <a:pt x="1823884" y="176332"/>
                  </a:cubicBezTo>
                  <a:cubicBezTo>
                    <a:pt x="1810206" y="190009"/>
                    <a:pt x="1791656" y="197693"/>
                    <a:pt x="1772314" y="197693"/>
                  </a:cubicBezTo>
                  <a:lnTo>
                    <a:pt x="72931" y="197693"/>
                  </a:lnTo>
                  <a:cubicBezTo>
                    <a:pt x="53589" y="197693"/>
                    <a:pt x="35038" y="190009"/>
                    <a:pt x="21361" y="176332"/>
                  </a:cubicBezTo>
                  <a:cubicBezTo>
                    <a:pt x="7684" y="162654"/>
                    <a:pt x="0" y="144104"/>
                    <a:pt x="0" y="124762"/>
                  </a:cubicBezTo>
                  <a:lnTo>
                    <a:pt x="0" y="72931"/>
                  </a:lnTo>
                  <a:cubicBezTo>
                    <a:pt x="0" y="53589"/>
                    <a:pt x="7684" y="35038"/>
                    <a:pt x="21361" y="21361"/>
                  </a:cubicBezTo>
                  <a:cubicBezTo>
                    <a:pt x="35038" y="7684"/>
                    <a:pt x="53589" y="0"/>
                    <a:pt x="72931" y="0"/>
                  </a:cubicBezTo>
                  <a:close/>
                </a:path>
              </a:pathLst>
            </a:custGeom>
            <a:solidFill>
              <a:srgbClr val="D0D7DD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1845244" cy="2262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90261" y="7471945"/>
            <a:ext cx="7006162" cy="750614"/>
            <a:chOff x="0" y="0"/>
            <a:chExt cx="1845244" cy="19769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5245" cy="197693"/>
            </a:xfrm>
            <a:custGeom>
              <a:avLst/>
              <a:gdLst/>
              <a:ahLst/>
              <a:cxnLst/>
              <a:rect r="r" b="b" t="t" l="l"/>
              <a:pathLst>
                <a:path h="197693" w="1845245">
                  <a:moveTo>
                    <a:pt x="72931" y="0"/>
                  </a:moveTo>
                  <a:lnTo>
                    <a:pt x="1772314" y="0"/>
                  </a:lnTo>
                  <a:cubicBezTo>
                    <a:pt x="1791656" y="0"/>
                    <a:pt x="1810206" y="7684"/>
                    <a:pt x="1823884" y="21361"/>
                  </a:cubicBezTo>
                  <a:cubicBezTo>
                    <a:pt x="1837561" y="35038"/>
                    <a:pt x="1845245" y="53589"/>
                    <a:pt x="1845245" y="72931"/>
                  </a:cubicBezTo>
                  <a:lnTo>
                    <a:pt x="1845245" y="124762"/>
                  </a:lnTo>
                  <a:cubicBezTo>
                    <a:pt x="1845245" y="144104"/>
                    <a:pt x="1837561" y="162654"/>
                    <a:pt x="1823884" y="176332"/>
                  </a:cubicBezTo>
                  <a:cubicBezTo>
                    <a:pt x="1810206" y="190009"/>
                    <a:pt x="1791656" y="197693"/>
                    <a:pt x="1772314" y="197693"/>
                  </a:cubicBezTo>
                  <a:lnTo>
                    <a:pt x="72931" y="197693"/>
                  </a:lnTo>
                  <a:cubicBezTo>
                    <a:pt x="53589" y="197693"/>
                    <a:pt x="35038" y="190009"/>
                    <a:pt x="21361" y="176332"/>
                  </a:cubicBezTo>
                  <a:cubicBezTo>
                    <a:pt x="7684" y="162654"/>
                    <a:pt x="0" y="144104"/>
                    <a:pt x="0" y="124762"/>
                  </a:cubicBezTo>
                  <a:lnTo>
                    <a:pt x="0" y="72931"/>
                  </a:lnTo>
                  <a:cubicBezTo>
                    <a:pt x="0" y="53589"/>
                    <a:pt x="7684" y="35038"/>
                    <a:pt x="21361" y="21361"/>
                  </a:cubicBezTo>
                  <a:cubicBezTo>
                    <a:pt x="35038" y="7684"/>
                    <a:pt x="53589" y="0"/>
                    <a:pt x="7293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A0CEFD">
                    <a:alpha val="100000"/>
                  </a:srgbClr>
                </a:gs>
                <a:gs pos="100000">
                  <a:srgbClr val="E4F2FF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1845244" cy="2262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890261" y="6579943"/>
            <a:ext cx="7006162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b="true" sz="2199" spc="-103">
                <a:solidFill>
                  <a:srgbClr val="424242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100% expected-outcome alignment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90261" y="7641830"/>
            <a:ext cx="7006162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b="true" sz="2199" spc="-103">
                <a:solidFill>
                  <a:srgbClr val="424242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0% workflow drift across six cases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890261" y="8510237"/>
            <a:ext cx="7006162" cy="750614"/>
            <a:chOff x="0" y="0"/>
            <a:chExt cx="1845244" cy="19769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845245" cy="197693"/>
            </a:xfrm>
            <a:custGeom>
              <a:avLst/>
              <a:gdLst/>
              <a:ahLst/>
              <a:cxnLst/>
              <a:rect r="r" b="b" t="t" l="l"/>
              <a:pathLst>
                <a:path h="197693" w="1845245">
                  <a:moveTo>
                    <a:pt x="72931" y="0"/>
                  </a:moveTo>
                  <a:lnTo>
                    <a:pt x="1772314" y="0"/>
                  </a:lnTo>
                  <a:cubicBezTo>
                    <a:pt x="1791656" y="0"/>
                    <a:pt x="1810206" y="7684"/>
                    <a:pt x="1823884" y="21361"/>
                  </a:cubicBezTo>
                  <a:cubicBezTo>
                    <a:pt x="1837561" y="35038"/>
                    <a:pt x="1845245" y="53589"/>
                    <a:pt x="1845245" y="72931"/>
                  </a:cubicBezTo>
                  <a:lnTo>
                    <a:pt x="1845245" y="124762"/>
                  </a:lnTo>
                  <a:cubicBezTo>
                    <a:pt x="1845245" y="144104"/>
                    <a:pt x="1837561" y="162654"/>
                    <a:pt x="1823884" y="176332"/>
                  </a:cubicBezTo>
                  <a:cubicBezTo>
                    <a:pt x="1810206" y="190009"/>
                    <a:pt x="1791656" y="197693"/>
                    <a:pt x="1772314" y="197693"/>
                  </a:cubicBezTo>
                  <a:lnTo>
                    <a:pt x="72931" y="197693"/>
                  </a:lnTo>
                  <a:cubicBezTo>
                    <a:pt x="53589" y="197693"/>
                    <a:pt x="35038" y="190009"/>
                    <a:pt x="21361" y="176332"/>
                  </a:cubicBezTo>
                  <a:cubicBezTo>
                    <a:pt x="7684" y="162654"/>
                    <a:pt x="0" y="144104"/>
                    <a:pt x="0" y="124762"/>
                  </a:cubicBezTo>
                  <a:lnTo>
                    <a:pt x="0" y="72931"/>
                  </a:lnTo>
                  <a:cubicBezTo>
                    <a:pt x="0" y="53589"/>
                    <a:pt x="7684" y="35038"/>
                    <a:pt x="21361" y="21361"/>
                  </a:cubicBezTo>
                  <a:cubicBezTo>
                    <a:pt x="35038" y="7684"/>
                    <a:pt x="53589" y="0"/>
                    <a:pt x="72931" y="0"/>
                  </a:cubicBezTo>
                  <a:close/>
                </a:path>
              </a:pathLst>
            </a:custGeom>
            <a:solidFill>
              <a:srgbClr val="D0D7DD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1845244" cy="2262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890261" y="8703716"/>
            <a:ext cx="7006162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b="true" sz="2199" spc="-103">
                <a:solidFill>
                  <a:srgbClr val="424242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100% unsafe-request refusal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018458" y="970292"/>
            <a:ext cx="8371131" cy="8407649"/>
            <a:chOff x="0" y="0"/>
            <a:chExt cx="2204742" cy="22143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04742" cy="2214360"/>
            </a:xfrm>
            <a:custGeom>
              <a:avLst/>
              <a:gdLst/>
              <a:ahLst/>
              <a:cxnLst/>
              <a:rect r="r" b="b" t="t" l="l"/>
              <a:pathLst>
                <a:path h="2214360" w="2204742">
                  <a:moveTo>
                    <a:pt x="86010" y="0"/>
                  </a:moveTo>
                  <a:lnTo>
                    <a:pt x="2118732" y="0"/>
                  </a:lnTo>
                  <a:cubicBezTo>
                    <a:pt x="2141544" y="0"/>
                    <a:pt x="2163421" y="9062"/>
                    <a:pt x="2179550" y="25192"/>
                  </a:cubicBezTo>
                  <a:cubicBezTo>
                    <a:pt x="2195681" y="41322"/>
                    <a:pt x="2204742" y="63199"/>
                    <a:pt x="2204742" y="86010"/>
                  </a:cubicBezTo>
                  <a:lnTo>
                    <a:pt x="2204742" y="2128351"/>
                  </a:lnTo>
                  <a:cubicBezTo>
                    <a:pt x="2204742" y="2175852"/>
                    <a:pt x="2166234" y="2214360"/>
                    <a:pt x="2118732" y="2214360"/>
                  </a:cubicBezTo>
                  <a:lnTo>
                    <a:pt x="86010" y="2214360"/>
                  </a:lnTo>
                  <a:cubicBezTo>
                    <a:pt x="38508" y="2214360"/>
                    <a:pt x="0" y="2175852"/>
                    <a:pt x="0" y="2128351"/>
                  </a:cubicBezTo>
                  <a:lnTo>
                    <a:pt x="0" y="86010"/>
                  </a:lnTo>
                  <a:cubicBezTo>
                    <a:pt x="0" y="38508"/>
                    <a:pt x="38508" y="0"/>
                    <a:pt x="86010" y="0"/>
                  </a:cubicBezTo>
                  <a:close/>
                </a:path>
              </a:pathLst>
            </a:custGeom>
            <a:solidFill>
              <a:srgbClr val="D0D7DD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2204742" cy="22429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pic>
        <p:nvPicPr>
          <p:cNvPr name="Picture 20" id="20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9278624" y="1050977"/>
            <a:ext cx="7850800" cy="831970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242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713623">
            <a:off x="6346841" y="-1712143"/>
            <a:ext cx="14118808" cy="9138719"/>
          </a:xfrm>
          <a:custGeom>
            <a:avLst/>
            <a:gdLst/>
            <a:ahLst/>
            <a:cxnLst/>
            <a:rect r="r" b="b" t="t" l="l"/>
            <a:pathLst>
              <a:path h="9138719" w="14118808">
                <a:moveTo>
                  <a:pt x="0" y="0"/>
                </a:moveTo>
                <a:lnTo>
                  <a:pt x="14118808" y="0"/>
                </a:lnTo>
                <a:lnTo>
                  <a:pt x="14118808" y="9138719"/>
                </a:lnTo>
                <a:lnTo>
                  <a:pt x="0" y="913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0999"/>
            </a:blip>
            <a:stretch>
              <a:fillRect l="0" t="0" r="0" b="0"/>
            </a:stretch>
          </a:blipFill>
        </p:spPr>
      </p:sp>
      <p:sp>
        <p:nvSpPr>
          <p:cNvPr name="AutoShape 3" id="3"/>
          <p:cNvSpPr/>
          <p:nvPr/>
        </p:nvSpPr>
        <p:spPr>
          <a:xfrm>
            <a:off x="2118663" y="4029905"/>
            <a:ext cx="17683768" cy="0"/>
          </a:xfrm>
          <a:prstGeom prst="line">
            <a:avLst/>
          </a:prstGeom>
          <a:ln cap="flat" w="57150">
            <a:solidFill>
              <a:srgbClr val="D0D7DD"/>
            </a:solidFill>
            <a:prstDash val="sysDash"/>
            <a:headEnd type="none" len="sm" w="sm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981077" y="3578182"/>
            <a:ext cx="2894965" cy="941546"/>
            <a:chOff x="0" y="0"/>
            <a:chExt cx="762460" cy="24797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62460" cy="247979"/>
            </a:xfrm>
            <a:custGeom>
              <a:avLst/>
              <a:gdLst/>
              <a:ahLst/>
              <a:cxnLst/>
              <a:rect r="r" b="b" t="t" l="l"/>
              <a:pathLst>
                <a:path h="247979" w="762460">
                  <a:moveTo>
                    <a:pt x="123990" y="0"/>
                  </a:moveTo>
                  <a:lnTo>
                    <a:pt x="638470" y="0"/>
                  </a:lnTo>
                  <a:cubicBezTo>
                    <a:pt x="706948" y="0"/>
                    <a:pt x="762460" y="55512"/>
                    <a:pt x="762460" y="123990"/>
                  </a:cubicBezTo>
                  <a:lnTo>
                    <a:pt x="762460" y="123990"/>
                  </a:lnTo>
                  <a:cubicBezTo>
                    <a:pt x="762460" y="156874"/>
                    <a:pt x="749397" y="188411"/>
                    <a:pt x="726144" y="211663"/>
                  </a:cubicBezTo>
                  <a:cubicBezTo>
                    <a:pt x="702892" y="234916"/>
                    <a:pt x="671354" y="247979"/>
                    <a:pt x="638470" y="247979"/>
                  </a:cubicBezTo>
                  <a:lnTo>
                    <a:pt x="123990" y="247979"/>
                  </a:lnTo>
                  <a:cubicBezTo>
                    <a:pt x="91106" y="247979"/>
                    <a:pt x="59568" y="234916"/>
                    <a:pt x="36316" y="211663"/>
                  </a:cubicBezTo>
                  <a:cubicBezTo>
                    <a:pt x="13063" y="188411"/>
                    <a:pt x="0" y="156874"/>
                    <a:pt x="0" y="123990"/>
                  </a:cubicBezTo>
                  <a:lnTo>
                    <a:pt x="0" y="123990"/>
                  </a:lnTo>
                  <a:cubicBezTo>
                    <a:pt x="0" y="91106"/>
                    <a:pt x="13063" y="59568"/>
                    <a:pt x="36316" y="36316"/>
                  </a:cubicBezTo>
                  <a:cubicBezTo>
                    <a:pt x="59568" y="13063"/>
                    <a:pt x="91106" y="0"/>
                    <a:pt x="12399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A0CEFD">
                    <a:alpha val="100000"/>
                  </a:srgbClr>
                </a:gs>
                <a:gs pos="100000">
                  <a:srgbClr val="E4F2FF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762460" cy="2765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5025140" y="3578182"/>
            <a:ext cx="2894965" cy="941546"/>
            <a:chOff x="0" y="0"/>
            <a:chExt cx="762460" cy="24797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62460" cy="247979"/>
            </a:xfrm>
            <a:custGeom>
              <a:avLst/>
              <a:gdLst/>
              <a:ahLst/>
              <a:cxnLst/>
              <a:rect r="r" b="b" t="t" l="l"/>
              <a:pathLst>
                <a:path h="247979" w="762460">
                  <a:moveTo>
                    <a:pt x="123990" y="0"/>
                  </a:moveTo>
                  <a:lnTo>
                    <a:pt x="638470" y="0"/>
                  </a:lnTo>
                  <a:cubicBezTo>
                    <a:pt x="706948" y="0"/>
                    <a:pt x="762460" y="55512"/>
                    <a:pt x="762460" y="123990"/>
                  </a:cubicBezTo>
                  <a:lnTo>
                    <a:pt x="762460" y="123990"/>
                  </a:lnTo>
                  <a:cubicBezTo>
                    <a:pt x="762460" y="156874"/>
                    <a:pt x="749397" y="188411"/>
                    <a:pt x="726144" y="211663"/>
                  </a:cubicBezTo>
                  <a:cubicBezTo>
                    <a:pt x="702892" y="234916"/>
                    <a:pt x="671354" y="247979"/>
                    <a:pt x="638470" y="247979"/>
                  </a:cubicBezTo>
                  <a:lnTo>
                    <a:pt x="123990" y="247979"/>
                  </a:lnTo>
                  <a:cubicBezTo>
                    <a:pt x="91106" y="247979"/>
                    <a:pt x="59568" y="234916"/>
                    <a:pt x="36316" y="211663"/>
                  </a:cubicBezTo>
                  <a:cubicBezTo>
                    <a:pt x="13063" y="188411"/>
                    <a:pt x="0" y="156874"/>
                    <a:pt x="0" y="123990"/>
                  </a:cubicBezTo>
                  <a:lnTo>
                    <a:pt x="0" y="123990"/>
                  </a:lnTo>
                  <a:cubicBezTo>
                    <a:pt x="0" y="91106"/>
                    <a:pt x="13063" y="59568"/>
                    <a:pt x="36316" y="36316"/>
                  </a:cubicBezTo>
                  <a:cubicBezTo>
                    <a:pt x="59568" y="13063"/>
                    <a:pt x="91106" y="0"/>
                    <a:pt x="12399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A0CEFD">
                    <a:alpha val="100000"/>
                  </a:srgbClr>
                </a:gs>
                <a:gs pos="100000">
                  <a:srgbClr val="E4F2FF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762460" cy="2765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069203" y="3578182"/>
            <a:ext cx="2894965" cy="941546"/>
            <a:chOff x="0" y="0"/>
            <a:chExt cx="762460" cy="24797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62460" cy="247979"/>
            </a:xfrm>
            <a:custGeom>
              <a:avLst/>
              <a:gdLst/>
              <a:ahLst/>
              <a:cxnLst/>
              <a:rect r="r" b="b" t="t" l="l"/>
              <a:pathLst>
                <a:path h="247979" w="762460">
                  <a:moveTo>
                    <a:pt x="123990" y="0"/>
                  </a:moveTo>
                  <a:lnTo>
                    <a:pt x="638470" y="0"/>
                  </a:lnTo>
                  <a:cubicBezTo>
                    <a:pt x="706948" y="0"/>
                    <a:pt x="762460" y="55512"/>
                    <a:pt x="762460" y="123990"/>
                  </a:cubicBezTo>
                  <a:lnTo>
                    <a:pt x="762460" y="123990"/>
                  </a:lnTo>
                  <a:cubicBezTo>
                    <a:pt x="762460" y="156874"/>
                    <a:pt x="749397" y="188411"/>
                    <a:pt x="726144" y="211663"/>
                  </a:cubicBezTo>
                  <a:cubicBezTo>
                    <a:pt x="702892" y="234916"/>
                    <a:pt x="671354" y="247979"/>
                    <a:pt x="638470" y="247979"/>
                  </a:cubicBezTo>
                  <a:lnTo>
                    <a:pt x="123990" y="247979"/>
                  </a:lnTo>
                  <a:cubicBezTo>
                    <a:pt x="91106" y="247979"/>
                    <a:pt x="59568" y="234916"/>
                    <a:pt x="36316" y="211663"/>
                  </a:cubicBezTo>
                  <a:cubicBezTo>
                    <a:pt x="13063" y="188411"/>
                    <a:pt x="0" y="156874"/>
                    <a:pt x="0" y="123990"/>
                  </a:cubicBezTo>
                  <a:lnTo>
                    <a:pt x="0" y="123990"/>
                  </a:lnTo>
                  <a:cubicBezTo>
                    <a:pt x="0" y="91106"/>
                    <a:pt x="13063" y="59568"/>
                    <a:pt x="36316" y="36316"/>
                  </a:cubicBezTo>
                  <a:cubicBezTo>
                    <a:pt x="59568" y="13063"/>
                    <a:pt x="91106" y="0"/>
                    <a:pt x="12399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A0CEFD">
                    <a:alpha val="100000"/>
                  </a:srgbClr>
                </a:gs>
                <a:gs pos="100000">
                  <a:srgbClr val="E4F2FF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762460" cy="2765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113265" y="3578182"/>
            <a:ext cx="2894965" cy="941546"/>
            <a:chOff x="0" y="0"/>
            <a:chExt cx="762460" cy="24797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62460" cy="247979"/>
            </a:xfrm>
            <a:custGeom>
              <a:avLst/>
              <a:gdLst/>
              <a:ahLst/>
              <a:cxnLst/>
              <a:rect r="r" b="b" t="t" l="l"/>
              <a:pathLst>
                <a:path h="247979" w="762460">
                  <a:moveTo>
                    <a:pt x="123990" y="0"/>
                  </a:moveTo>
                  <a:lnTo>
                    <a:pt x="638470" y="0"/>
                  </a:lnTo>
                  <a:cubicBezTo>
                    <a:pt x="706948" y="0"/>
                    <a:pt x="762460" y="55512"/>
                    <a:pt x="762460" y="123990"/>
                  </a:cubicBezTo>
                  <a:lnTo>
                    <a:pt x="762460" y="123990"/>
                  </a:lnTo>
                  <a:cubicBezTo>
                    <a:pt x="762460" y="156874"/>
                    <a:pt x="749397" y="188411"/>
                    <a:pt x="726144" y="211663"/>
                  </a:cubicBezTo>
                  <a:cubicBezTo>
                    <a:pt x="702892" y="234916"/>
                    <a:pt x="671354" y="247979"/>
                    <a:pt x="638470" y="247979"/>
                  </a:cubicBezTo>
                  <a:lnTo>
                    <a:pt x="123990" y="247979"/>
                  </a:lnTo>
                  <a:cubicBezTo>
                    <a:pt x="91106" y="247979"/>
                    <a:pt x="59568" y="234916"/>
                    <a:pt x="36316" y="211663"/>
                  </a:cubicBezTo>
                  <a:cubicBezTo>
                    <a:pt x="13063" y="188411"/>
                    <a:pt x="0" y="156874"/>
                    <a:pt x="0" y="123990"/>
                  </a:cubicBezTo>
                  <a:lnTo>
                    <a:pt x="0" y="123990"/>
                  </a:lnTo>
                  <a:cubicBezTo>
                    <a:pt x="0" y="91106"/>
                    <a:pt x="13063" y="59568"/>
                    <a:pt x="36316" y="36316"/>
                  </a:cubicBezTo>
                  <a:cubicBezTo>
                    <a:pt x="59568" y="13063"/>
                    <a:pt x="91106" y="0"/>
                    <a:pt x="12399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A0CEFD">
                    <a:alpha val="100000"/>
                  </a:srgbClr>
                </a:gs>
                <a:gs pos="100000">
                  <a:srgbClr val="E4F2FF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762460" cy="2765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94040" y="4873357"/>
            <a:ext cx="16495548" cy="4547013"/>
            <a:chOff x="0" y="0"/>
            <a:chExt cx="4344507" cy="11975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344507" cy="1197567"/>
            </a:xfrm>
            <a:custGeom>
              <a:avLst/>
              <a:gdLst/>
              <a:ahLst/>
              <a:cxnLst/>
              <a:rect r="r" b="b" t="t" l="l"/>
              <a:pathLst>
                <a:path h="1197567" w="4344507">
                  <a:moveTo>
                    <a:pt x="37547" y="0"/>
                  </a:moveTo>
                  <a:lnTo>
                    <a:pt x="4306960" y="0"/>
                  </a:lnTo>
                  <a:cubicBezTo>
                    <a:pt x="4316918" y="0"/>
                    <a:pt x="4326468" y="3956"/>
                    <a:pt x="4333510" y="10997"/>
                  </a:cubicBezTo>
                  <a:cubicBezTo>
                    <a:pt x="4340551" y="18039"/>
                    <a:pt x="4344507" y="27589"/>
                    <a:pt x="4344507" y="37547"/>
                  </a:cubicBezTo>
                  <a:lnTo>
                    <a:pt x="4344507" y="1160021"/>
                  </a:lnTo>
                  <a:cubicBezTo>
                    <a:pt x="4344507" y="1169979"/>
                    <a:pt x="4340551" y="1179529"/>
                    <a:pt x="4333510" y="1186570"/>
                  </a:cubicBezTo>
                  <a:cubicBezTo>
                    <a:pt x="4326468" y="1193612"/>
                    <a:pt x="4316918" y="1197567"/>
                    <a:pt x="4306960" y="1197567"/>
                  </a:cubicBezTo>
                  <a:lnTo>
                    <a:pt x="37547" y="1197567"/>
                  </a:lnTo>
                  <a:cubicBezTo>
                    <a:pt x="27589" y="1197567"/>
                    <a:pt x="18039" y="1193612"/>
                    <a:pt x="10997" y="1186570"/>
                  </a:cubicBezTo>
                  <a:cubicBezTo>
                    <a:pt x="3956" y="1179529"/>
                    <a:pt x="0" y="1169979"/>
                    <a:pt x="0" y="1160021"/>
                  </a:cubicBezTo>
                  <a:lnTo>
                    <a:pt x="0" y="37547"/>
                  </a:lnTo>
                  <a:cubicBezTo>
                    <a:pt x="0" y="27589"/>
                    <a:pt x="3956" y="18039"/>
                    <a:pt x="10997" y="10997"/>
                  </a:cubicBezTo>
                  <a:cubicBezTo>
                    <a:pt x="18039" y="3956"/>
                    <a:pt x="27589" y="0"/>
                    <a:pt x="37547" y="0"/>
                  </a:cubicBezTo>
                  <a:close/>
                </a:path>
              </a:pathLst>
            </a:custGeom>
            <a:solidFill>
              <a:srgbClr val="424242"/>
            </a:solidFill>
            <a:ln w="19050" cap="rnd">
              <a:solidFill>
                <a:srgbClr val="D0D7DD"/>
              </a:soli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4344507" cy="1226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84504" y="3822810"/>
            <a:ext cx="2888111" cy="5570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02"/>
              </a:lnSpc>
            </a:pPr>
            <a:r>
              <a:rPr lang="en-US" b="true" sz="4364" spc="-205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Gateway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025140" y="3822810"/>
            <a:ext cx="2888111" cy="5570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02"/>
              </a:lnSpc>
            </a:pPr>
            <a:r>
              <a:rPr lang="en-US" b="true" sz="4364" spc="-205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Policy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065776" y="3822810"/>
            <a:ext cx="2888111" cy="5570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02"/>
              </a:lnSpc>
            </a:pPr>
            <a:r>
              <a:rPr lang="en-US" b="true" sz="4364" spc="-205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Tenant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106412" y="3840040"/>
            <a:ext cx="2888111" cy="513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59"/>
              </a:lnSpc>
            </a:pPr>
            <a:r>
              <a:rPr lang="en-US" b="true" sz="3999" spc="-187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Now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28700" y="1017210"/>
            <a:ext cx="16230600" cy="14366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527"/>
              </a:lnSpc>
            </a:pPr>
            <a:r>
              <a:rPr lang="en-US" sz="11199" spc="-526" b="true">
                <a:solidFill>
                  <a:srgbClr val="FFFFF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Build Timeline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81019" y="5633287"/>
            <a:ext cx="2743245" cy="3135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Context envelope. Hidden instructions quarantined. Facts kept. Provenance labeled.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5338031" y="5633287"/>
            <a:ext cx="2743245" cy="3135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Deterministic action firewall and Agent EDR. Containment when a session looks compromised.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372138" y="5633287"/>
            <a:ext cx="2743245" cy="3135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Northstar Freight: four roles, nine labeled files, three synthetic tools, Q4 model bridge.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406245" y="5633287"/>
            <a:ext cx="2743245" cy="3135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One control room. Judges pick a colleague, send a request, and watch which layer stops them.</a:t>
            </a:r>
          </a:p>
        </p:txBody>
      </p:sp>
      <p:sp>
        <p:nvSpPr>
          <p:cNvPr name="AutoShape 28" id="28"/>
          <p:cNvSpPr/>
          <p:nvPr/>
        </p:nvSpPr>
        <p:spPr>
          <a:xfrm flipH="true">
            <a:off x="8726707" y="5490280"/>
            <a:ext cx="0" cy="3462212"/>
          </a:xfrm>
          <a:prstGeom prst="line">
            <a:avLst/>
          </a:prstGeom>
          <a:ln cap="flat" w="19050">
            <a:solidFill>
              <a:srgbClr val="D0D7D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9" id="29"/>
          <p:cNvSpPr/>
          <p:nvPr/>
        </p:nvSpPr>
        <p:spPr>
          <a:xfrm flipH="true">
            <a:off x="4731147" y="5490280"/>
            <a:ext cx="0" cy="3462212"/>
          </a:xfrm>
          <a:prstGeom prst="line">
            <a:avLst/>
          </a:prstGeom>
          <a:ln cap="flat" w="19050">
            <a:solidFill>
              <a:srgbClr val="D0D7D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0" id="30"/>
          <p:cNvSpPr/>
          <p:nvPr/>
        </p:nvSpPr>
        <p:spPr>
          <a:xfrm>
            <a:off x="12724982" y="5490280"/>
            <a:ext cx="0" cy="3462212"/>
          </a:xfrm>
          <a:prstGeom prst="line">
            <a:avLst/>
          </a:prstGeom>
          <a:ln cap="flat" w="19050">
            <a:solidFill>
              <a:srgbClr val="D0D7DD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242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713623">
            <a:off x="6346841" y="-1712143"/>
            <a:ext cx="14118808" cy="9138719"/>
          </a:xfrm>
          <a:custGeom>
            <a:avLst/>
            <a:gdLst/>
            <a:ahLst/>
            <a:cxnLst/>
            <a:rect r="r" b="b" t="t" l="l"/>
            <a:pathLst>
              <a:path h="9138719" w="14118808">
                <a:moveTo>
                  <a:pt x="0" y="0"/>
                </a:moveTo>
                <a:lnTo>
                  <a:pt x="14118808" y="0"/>
                </a:lnTo>
                <a:lnTo>
                  <a:pt x="14118808" y="9138719"/>
                </a:lnTo>
                <a:lnTo>
                  <a:pt x="0" y="913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0999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378212" y="3427139"/>
            <a:ext cx="8011376" cy="5993231"/>
            <a:chOff x="0" y="0"/>
            <a:chExt cx="2109992" cy="157846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09992" cy="1578464"/>
            </a:xfrm>
            <a:custGeom>
              <a:avLst/>
              <a:gdLst/>
              <a:ahLst/>
              <a:cxnLst/>
              <a:rect r="r" b="b" t="t" l="l"/>
              <a:pathLst>
                <a:path h="1578464" w="2109992">
                  <a:moveTo>
                    <a:pt x="77309" y="0"/>
                  </a:moveTo>
                  <a:lnTo>
                    <a:pt x="2032683" y="0"/>
                  </a:lnTo>
                  <a:cubicBezTo>
                    <a:pt x="2053186" y="0"/>
                    <a:pt x="2072850" y="8145"/>
                    <a:pt x="2087349" y="22643"/>
                  </a:cubicBezTo>
                  <a:cubicBezTo>
                    <a:pt x="2101847" y="37142"/>
                    <a:pt x="2109992" y="56806"/>
                    <a:pt x="2109992" y="77309"/>
                  </a:cubicBezTo>
                  <a:lnTo>
                    <a:pt x="2109992" y="1501155"/>
                  </a:lnTo>
                  <a:cubicBezTo>
                    <a:pt x="2109992" y="1521659"/>
                    <a:pt x="2101847" y="1541322"/>
                    <a:pt x="2087349" y="1555821"/>
                  </a:cubicBezTo>
                  <a:cubicBezTo>
                    <a:pt x="2072850" y="1570319"/>
                    <a:pt x="2053186" y="1578464"/>
                    <a:pt x="2032683" y="1578464"/>
                  </a:cubicBezTo>
                  <a:lnTo>
                    <a:pt x="77309" y="1578464"/>
                  </a:lnTo>
                  <a:cubicBezTo>
                    <a:pt x="56806" y="1578464"/>
                    <a:pt x="37142" y="1570319"/>
                    <a:pt x="22643" y="1555821"/>
                  </a:cubicBezTo>
                  <a:cubicBezTo>
                    <a:pt x="8145" y="1541322"/>
                    <a:pt x="0" y="1521659"/>
                    <a:pt x="0" y="1501155"/>
                  </a:cubicBezTo>
                  <a:lnTo>
                    <a:pt x="0" y="77309"/>
                  </a:lnTo>
                  <a:cubicBezTo>
                    <a:pt x="0" y="56806"/>
                    <a:pt x="8145" y="37142"/>
                    <a:pt x="22643" y="22643"/>
                  </a:cubicBezTo>
                  <a:cubicBezTo>
                    <a:pt x="37142" y="8145"/>
                    <a:pt x="56806" y="0"/>
                    <a:pt x="77309" y="0"/>
                  </a:cubicBezTo>
                  <a:close/>
                </a:path>
              </a:pathLst>
            </a:custGeom>
            <a:solidFill>
              <a:srgbClr val="424242"/>
            </a:solidFill>
            <a:ln w="19050" cap="rnd">
              <a:solidFill>
                <a:srgbClr val="D0D7DD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2109992" cy="16070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028700" y="1045785"/>
            <a:ext cx="16230600" cy="15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68"/>
              </a:lnSpc>
            </a:pPr>
            <a:r>
              <a:rPr lang="en-US" b="true" sz="12200" spc="-573">
                <a:solidFill>
                  <a:srgbClr val="FFFFF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Use of Funds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628963"/>
            <a:ext cx="6534081" cy="2192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Not a raise. A 90-day plan to take the hackathon control plane into a pluggable runtime.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6341091"/>
            <a:ext cx="6534081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35%  Runtime API and MCP enforcement adapter.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7113231"/>
            <a:ext cx="6534081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25%  Red-team corpus: tool-result injection, split payloads, multilingual.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249383" y="3164872"/>
            <a:ext cx="6597788" cy="6517765"/>
          </a:xfrm>
          <a:prstGeom prst="rect">
            <a:avLst/>
          </a:prstGeom>
        </p:spPr>
      </p:pic>
      <p:sp>
        <p:nvSpPr>
          <p:cNvPr name="TextBox 11" id="11"/>
          <p:cNvSpPr txBox="true"/>
          <p:nvPr/>
        </p:nvSpPr>
        <p:spPr>
          <a:xfrm rot="0">
            <a:off x="1028700" y="7885370"/>
            <a:ext cx="6534081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22%  Model-routing gateway — keep the planner untrusted and swappable.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8657510"/>
            <a:ext cx="6534081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 spc="-84">
                <a:solidFill>
                  <a:srgbClr val="FFFFFF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18%  Operator UX: toggle every layer live, the way judges already drive the demo.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0D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924022" y="5188961"/>
            <a:ext cx="4716981" cy="6251420"/>
          </a:xfrm>
          <a:custGeom>
            <a:avLst/>
            <a:gdLst/>
            <a:ahLst/>
            <a:cxnLst/>
            <a:rect r="r" b="b" t="t" l="l"/>
            <a:pathLst>
              <a:path h="6251420" w="4716981">
                <a:moveTo>
                  <a:pt x="0" y="0"/>
                </a:moveTo>
                <a:lnTo>
                  <a:pt x="4716981" y="0"/>
                </a:lnTo>
                <a:lnTo>
                  <a:pt x="4716981" y="6251421"/>
                </a:lnTo>
                <a:lnTo>
                  <a:pt x="0" y="62514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925852">
            <a:off x="-2330235" y="2657262"/>
            <a:ext cx="9386678" cy="10557613"/>
          </a:xfrm>
          <a:custGeom>
            <a:avLst/>
            <a:gdLst/>
            <a:ahLst/>
            <a:cxnLst/>
            <a:rect r="r" b="b" t="t" l="l"/>
            <a:pathLst>
              <a:path h="10557613" w="9386678">
                <a:moveTo>
                  <a:pt x="0" y="0"/>
                </a:moveTo>
                <a:lnTo>
                  <a:pt x="9386678" y="0"/>
                </a:lnTo>
                <a:lnTo>
                  <a:pt x="9386678" y="10557613"/>
                </a:lnTo>
                <a:lnTo>
                  <a:pt x="0" y="105576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53566" y="647822"/>
            <a:ext cx="644940" cy="644940"/>
          </a:xfrm>
          <a:custGeom>
            <a:avLst/>
            <a:gdLst/>
            <a:ahLst/>
            <a:cxnLst/>
            <a:rect r="r" b="b" t="t" l="l"/>
            <a:pathLst>
              <a:path h="644940" w="644940">
                <a:moveTo>
                  <a:pt x="0" y="0"/>
                </a:moveTo>
                <a:lnTo>
                  <a:pt x="644939" y="0"/>
                </a:lnTo>
                <a:lnTo>
                  <a:pt x="644939" y="644940"/>
                </a:lnTo>
                <a:lnTo>
                  <a:pt x="0" y="64494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343327" y="-1437860"/>
            <a:ext cx="12858845" cy="4933121"/>
          </a:xfrm>
          <a:custGeom>
            <a:avLst/>
            <a:gdLst/>
            <a:ahLst/>
            <a:cxnLst/>
            <a:rect r="r" b="b" t="t" l="l"/>
            <a:pathLst>
              <a:path h="4933121" w="12858845">
                <a:moveTo>
                  <a:pt x="0" y="0"/>
                </a:moveTo>
                <a:lnTo>
                  <a:pt x="12858845" y="0"/>
                </a:lnTo>
                <a:lnTo>
                  <a:pt x="12858845" y="4933120"/>
                </a:lnTo>
                <a:lnTo>
                  <a:pt x="0" y="493312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25000"/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8577022" y="508053"/>
            <a:ext cx="4096174" cy="4331915"/>
            <a:chOff x="0" y="0"/>
            <a:chExt cx="1078828" cy="114091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78828" cy="1140916"/>
            </a:xfrm>
            <a:custGeom>
              <a:avLst/>
              <a:gdLst/>
              <a:ahLst/>
              <a:cxnLst/>
              <a:rect r="r" b="b" t="t" l="l"/>
              <a:pathLst>
                <a:path h="1140916" w="1078828">
                  <a:moveTo>
                    <a:pt x="134193" y="0"/>
                  </a:moveTo>
                  <a:lnTo>
                    <a:pt x="944635" y="0"/>
                  </a:lnTo>
                  <a:cubicBezTo>
                    <a:pt x="980225" y="0"/>
                    <a:pt x="1014358" y="14138"/>
                    <a:pt x="1039524" y="39304"/>
                  </a:cubicBezTo>
                  <a:cubicBezTo>
                    <a:pt x="1064690" y="64470"/>
                    <a:pt x="1078828" y="98603"/>
                    <a:pt x="1078828" y="134193"/>
                  </a:cubicBezTo>
                  <a:lnTo>
                    <a:pt x="1078828" y="1006723"/>
                  </a:lnTo>
                  <a:cubicBezTo>
                    <a:pt x="1078828" y="1080836"/>
                    <a:pt x="1018748" y="1140916"/>
                    <a:pt x="944635" y="1140916"/>
                  </a:cubicBezTo>
                  <a:lnTo>
                    <a:pt x="134193" y="1140916"/>
                  </a:lnTo>
                  <a:cubicBezTo>
                    <a:pt x="98603" y="1140916"/>
                    <a:pt x="64470" y="1126778"/>
                    <a:pt x="39304" y="1101612"/>
                  </a:cubicBezTo>
                  <a:cubicBezTo>
                    <a:pt x="14138" y="1076446"/>
                    <a:pt x="0" y="1042313"/>
                    <a:pt x="0" y="1006723"/>
                  </a:cubicBezTo>
                  <a:lnTo>
                    <a:pt x="0" y="134193"/>
                  </a:lnTo>
                  <a:cubicBezTo>
                    <a:pt x="0" y="98603"/>
                    <a:pt x="14138" y="64470"/>
                    <a:pt x="39304" y="39304"/>
                  </a:cubicBezTo>
                  <a:cubicBezTo>
                    <a:pt x="64470" y="14138"/>
                    <a:pt x="98603" y="0"/>
                    <a:pt x="134193" y="0"/>
                  </a:cubicBezTo>
                  <a:close/>
                </a:path>
              </a:pathLst>
            </a:custGeom>
            <a:solidFill>
              <a:srgbClr val="D0D7DD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1078828" cy="11694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577022" y="5355323"/>
            <a:ext cx="4096174" cy="4331915"/>
            <a:chOff x="0" y="0"/>
            <a:chExt cx="1078828" cy="114091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78828" cy="1140916"/>
            </a:xfrm>
            <a:custGeom>
              <a:avLst/>
              <a:gdLst/>
              <a:ahLst/>
              <a:cxnLst/>
              <a:rect r="r" b="b" t="t" l="l"/>
              <a:pathLst>
                <a:path h="1140916" w="1078828">
                  <a:moveTo>
                    <a:pt x="134193" y="0"/>
                  </a:moveTo>
                  <a:lnTo>
                    <a:pt x="944635" y="0"/>
                  </a:lnTo>
                  <a:cubicBezTo>
                    <a:pt x="980225" y="0"/>
                    <a:pt x="1014358" y="14138"/>
                    <a:pt x="1039524" y="39304"/>
                  </a:cubicBezTo>
                  <a:cubicBezTo>
                    <a:pt x="1064690" y="64470"/>
                    <a:pt x="1078828" y="98603"/>
                    <a:pt x="1078828" y="134193"/>
                  </a:cubicBezTo>
                  <a:lnTo>
                    <a:pt x="1078828" y="1006723"/>
                  </a:lnTo>
                  <a:cubicBezTo>
                    <a:pt x="1078828" y="1080836"/>
                    <a:pt x="1018748" y="1140916"/>
                    <a:pt x="944635" y="1140916"/>
                  </a:cubicBezTo>
                  <a:lnTo>
                    <a:pt x="134193" y="1140916"/>
                  </a:lnTo>
                  <a:cubicBezTo>
                    <a:pt x="98603" y="1140916"/>
                    <a:pt x="64470" y="1126778"/>
                    <a:pt x="39304" y="1101612"/>
                  </a:cubicBezTo>
                  <a:cubicBezTo>
                    <a:pt x="14138" y="1076446"/>
                    <a:pt x="0" y="1042313"/>
                    <a:pt x="0" y="1006723"/>
                  </a:cubicBezTo>
                  <a:lnTo>
                    <a:pt x="0" y="134193"/>
                  </a:lnTo>
                  <a:cubicBezTo>
                    <a:pt x="0" y="98603"/>
                    <a:pt x="14138" y="64470"/>
                    <a:pt x="39304" y="39304"/>
                  </a:cubicBezTo>
                  <a:cubicBezTo>
                    <a:pt x="64470" y="14138"/>
                    <a:pt x="98603" y="0"/>
                    <a:pt x="134193" y="0"/>
                  </a:cubicBezTo>
                  <a:close/>
                </a:path>
              </a:pathLst>
            </a:custGeom>
            <a:solidFill>
              <a:srgbClr val="D0D7DD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28575"/>
              <a:ext cx="1078828" cy="11694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3163126" y="508053"/>
            <a:ext cx="4096174" cy="4331915"/>
            <a:chOff x="0" y="0"/>
            <a:chExt cx="1078828" cy="11409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78828" cy="1140916"/>
            </a:xfrm>
            <a:custGeom>
              <a:avLst/>
              <a:gdLst/>
              <a:ahLst/>
              <a:cxnLst/>
              <a:rect r="r" b="b" t="t" l="l"/>
              <a:pathLst>
                <a:path h="1140916" w="1078828">
                  <a:moveTo>
                    <a:pt x="134193" y="0"/>
                  </a:moveTo>
                  <a:lnTo>
                    <a:pt x="944635" y="0"/>
                  </a:lnTo>
                  <a:cubicBezTo>
                    <a:pt x="980225" y="0"/>
                    <a:pt x="1014358" y="14138"/>
                    <a:pt x="1039524" y="39304"/>
                  </a:cubicBezTo>
                  <a:cubicBezTo>
                    <a:pt x="1064690" y="64470"/>
                    <a:pt x="1078828" y="98603"/>
                    <a:pt x="1078828" y="134193"/>
                  </a:cubicBezTo>
                  <a:lnTo>
                    <a:pt x="1078828" y="1006723"/>
                  </a:lnTo>
                  <a:cubicBezTo>
                    <a:pt x="1078828" y="1080836"/>
                    <a:pt x="1018748" y="1140916"/>
                    <a:pt x="944635" y="1140916"/>
                  </a:cubicBezTo>
                  <a:lnTo>
                    <a:pt x="134193" y="1140916"/>
                  </a:lnTo>
                  <a:cubicBezTo>
                    <a:pt x="98603" y="1140916"/>
                    <a:pt x="64470" y="1126778"/>
                    <a:pt x="39304" y="1101612"/>
                  </a:cubicBezTo>
                  <a:cubicBezTo>
                    <a:pt x="14138" y="1076446"/>
                    <a:pt x="0" y="1042313"/>
                    <a:pt x="0" y="1006723"/>
                  </a:cubicBezTo>
                  <a:lnTo>
                    <a:pt x="0" y="134193"/>
                  </a:lnTo>
                  <a:cubicBezTo>
                    <a:pt x="0" y="98603"/>
                    <a:pt x="14138" y="64470"/>
                    <a:pt x="39304" y="39304"/>
                  </a:cubicBezTo>
                  <a:cubicBezTo>
                    <a:pt x="64470" y="14138"/>
                    <a:pt x="98603" y="0"/>
                    <a:pt x="134193" y="0"/>
                  </a:cubicBezTo>
                  <a:close/>
                </a:path>
              </a:pathLst>
            </a:custGeom>
            <a:solidFill>
              <a:srgbClr val="D0D7DD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078828" cy="11694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3163126" y="5355323"/>
            <a:ext cx="4096174" cy="4331915"/>
            <a:chOff x="0" y="0"/>
            <a:chExt cx="1078828" cy="11409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78828" cy="1140916"/>
            </a:xfrm>
            <a:custGeom>
              <a:avLst/>
              <a:gdLst/>
              <a:ahLst/>
              <a:cxnLst/>
              <a:rect r="r" b="b" t="t" l="l"/>
              <a:pathLst>
                <a:path h="1140916" w="1078828">
                  <a:moveTo>
                    <a:pt x="134193" y="0"/>
                  </a:moveTo>
                  <a:lnTo>
                    <a:pt x="944635" y="0"/>
                  </a:lnTo>
                  <a:cubicBezTo>
                    <a:pt x="980225" y="0"/>
                    <a:pt x="1014358" y="14138"/>
                    <a:pt x="1039524" y="39304"/>
                  </a:cubicBezTo>
                  <a:cubicBezTo>
                    <a:pt x="1064690" y="64470"/>
                    <a:pt x="1078828" y="98603"/>
                    <a:pt x="1078828" y="134193"/>
                  </a:cubicBezTo>
                  <a:lnTo>
                    <a:pt x="1078828" y="1006723"/>
                  </a:lnTo>
                  <a:cubicBezTo>
                    <a:pt x="1078828" y="1080836"/>
                    <a:pt x="1018748" y="1140916"/>
                    <a:pt x="944635" y="1140916"/>
                  </a:cubicBezTo>
                  <a:lnTo>
                    <a:pt x="134193" y="1140916"/>
                  </a:lnTo>
                  <a:cubicBezTo>
                    <a:pt x="98603" y="1140916"/>
                    <a:pt x="64470" y="1126778"/>
                    <a:pt x="39304" y="1101612"/>
                  </a:cubicBezTo>
                  <a:cubicBezTo>
                    <a:pt x="14138" y="1076446"/>
                    <a:pt x="0" y="1042313"/>
                    <a:pt x="0" y="1006723"/>
                  </a:cubicBezTo>
                  <a:lnTo>
                    <a:pt x="0" y="134193"/>
                  </a:lnTo>
                  <a:cubicBezTo>
                    <a:pt x="0" y="98603"/>
                    <a:pt x="14138" y="64470"/>
                    <a:pt x="39304" y="39304"/>
                  </a:cubicBezTo>
                  <a:cubicBezTo>
                    <a:pt x="64470" y="14138"/>
                    <a:pt x="98603" y="0"/>
                    <a:pt x="134193" y="0"/>
                  </a:cubicBezTo>
                  <a:close/>
                </a:path>
              </a:pathLst>
            </a:custGeom>
            <a:solidFill>
              <a:srgbClr val="D0D7DD"/>
            </a:solidFill>
            <a:ln w="19050" cap="rnd">
              <a:solidFill>
                <a:srgbClr val="424242"/>
              </a:solidFill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28575"/>
              <a:ext cx="1078828" cy="11694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15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844161" y="741194"/>
            <a:ext cx="3562533" cy="2740408"/>
            <a:chOff x="0" y="0"/>
            <a:chExt cx="978955" cy="75304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78955" cy="753042"/>
            </a:xfrm>
            <a:custGeom>
              <a:avLst/>
              <a:gdLst/>
              <a:ahLst/>
              <a:cxnLst/>
              <a:rect r="r" b="b" t="t" l="l"/>
              <a:pathLst>
                <a:path h="753042" w="978955">
                  <a:moveTo>
                    <a:pt x="117350" y="0"/>
                  </a:moveTo>
                  <a:lnTo>
                    <a:pt x="861605" y="0"/>
                  </a:lnTo>
                  <a:cubicBezTo>
                    <a:pt x="926416" y="0"/>
                    <a:pt x="978955" y="52539"/>
                    <a:pt x="978955" y="117350"/>
                  </a:cubicBezTo>
                  <a:lnTo>
                    <a:pt x="978955" y="635692"/>
                  </a:lnTo>
                  <a:cubicBezTo>
                    <a:pt x="978955" y="666815"/>
                    <a:pt x="966592" y="696664"/>
                    <a:pt x="944584" y="718671"/>
                  </a:cubicBezTo>
                  <a:cubicBezTo>
                    <a:pt x="922577" y="740678"/>
                    <a:pt x="892729" y="753042"/>
                    <a:pt x="861605" y="753042"/>
                  </a:cubicBezTo>
                  <a:lnTo>
                    <a:pt x="117350" y="753042"/>
                  </a:lnTo>
                  <a:cubicBezTo>
                    <a:pt x="52539" y="753042"/>
                    <a:pt x="0" y="700503"/>
                    <a:pt x="0" y="635692"/>
                  </a:cubicBezTo>
                  <a:lnTo>
                    <a:pt x="0" y="117350"/>
                  </a:lnTo>
                  <a:cubicBezTo>
                    <a:pt x="0" y="86227"/>
                    <a:pt x="12364" y="56378"/>
                    <a:pt x="34371" y="34371"/>
                  </a:cubicBezTo>
                  <a:cubicBezTo>
                    <a:pt x="56378" y="12364"/>
                    <a:pt x="86227" y="0"/>
                    <a:pt x="117350" y="0"/>
                  </a:cubicBezTo>
                  <a:close/>
                </a:path>
              </a:pathLst>
            </a:custGeom>
            <a:blipFill>
              <a:blip r:embed="rId8"/>
              <a:stretch>
                <a:fillRect l="-31470" t="-20109" r="-36275" b="-207199"/>
              </a:stretch>
            </a:blipFill>
            <a:ln w="19050" cap="rnd">
              <a:solidFill>
                <a:srgbClr val="424242"/>
              </a:solidFill>
              <a:prstDash val="solid"/>
              <a:round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844161" y="5588464"/>
            <a:ext cx="3562533" cy="2740408"/>
            <a:chOff x="0" y="0"/>
            <a:chExt cx="978955" cy="75304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78955" cy="753042"/>
            </a:xfrm>
            <a:custGeom>
              <a:avLst/>
              <a:gdLst/>
              <a:ahLst/>
              <a:cxnLst/>
              <a:rect r="r" b="b" t="t" l="l"/>
              <a:pathLst>
                <a:path h="753042" w="978955">
                  <a:moveTo>
                    <a:pt x="117350" y="0"/>
                  </a:moveTo>
                  <a:lnTo>
                    <a:pt x="861605" y="0"/>
                  </a:lnTo>
                  <a:cubicBezTo>
                    <a:pt x="926416" y="0"/>
                    <a:pt x="978955" y="52539"/>
                    <a:pt x="978955" y="117350"/>
                  </a:cubicBezTo>
                  <a:lnTo>
                    <a:pt x="978955" y="635692"/>
                  </a:lnTo>
                  <a:cubicBezTo>
                    <a:pt x="978955" y="666815"/>
                    <a:pt x="966592" y="696664"/>
                    <a:pt x="944584" y="718671"/>
                  </a:cubicBezTo>
                  <a:cubicBezTo>
                    <a:pt x="922577" y="740678"/>
                    <a:pt x="892729" y="753042"/>
                    <a:pt x="861605" y="753042"/>
                  </a:cubicBezTo>
                  <a:lnTo>
                    <a:pt x="117350" y="753042"/>
                  </a:lnTo>
                  <a:cubicBezTo>
                    <a:pt x="52539" y="753042"/>
                    <a:pt x="0" y="700503"/>
                    <a:pt x="0" y="635692"/>
                  </a:cubicBezTo>
                  <a:lnTo>
                    <a:pt x="0" y="117350"/>
                  </a:lnTo>
                  <a:cubicBezTo>
                    <a:pt x="0" y="86227"/>
                    <a:pt x="12364" y="56378"/>
                    <a:pt x="34371" y="34371"/>
                  </a:cubicBezTo>
                  <a:cubicBezTo>
                    <a:pt x="56378" y="12364"/>
                    <a:pt x="86227" y="0"/>
                    <a:pt x="117350" y="0"/>
                  </a:cubicBezTo>
                  <a:close/>
                </a:path>
              </a:pathLst>
            </a:custGeom>
            <a:blipFill>
              <a:blip r:embed="rId9"/>
              <a:stretch>
                <a:fillRect l="-34811" t="0" r="-30352" b="-43272"/>
              </a:stretch>
            </a:blipFill>
            <a:ln w="19050" cap="rnd">
              <a:solidFill>
                <a:srgbClr val="424242"/>
              </a:solidFill>
              <a:prstDash val="solid"/>
              <a:round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3429946" y="741194"/>
            <a:ext cx="3562533" cy="2740408"/>
            <a:chOff x="0" y="0"/>
            <a:chExt cx="978955" cy="75304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978955" cy="753042"/>
            </a:xfrm>
            <a:custGeom>
              <a:avLst/>
              <a:gdLst/>
              <a:ahLst/>
              <a:cxnLst/>
              <a:rect r="r" b="b" t="t" l="l"/>
              <a:pathLst>
                <a:path h="753042" w="978955">
                  <a:moveTo>
                    <a:pt x="117350" y="0"/>
                  </a:moveTo>
                  <a:lnTo>
                    <a:pt x="861605" y="0"/>
                  </a:lnTo>
                  <a:cubicBezTo>
                    <a:pt x="926416" y="0"/>
                    <a:pt x="978955" y="52539"/>
                    <a:pt x="978955" y="117350"/>
                  </a:cubicBezTo>
                  <a:lnTo>
                    <a:pt x="978955" y="635692"/>
                  </a:lnTo>
                  <a:cubicBezTo>
                    <a:pt x="978955" y="666815"/>
                    <a:pt x="966592" y="696664"/>
                    <a:pt x="944584" y="718671"/>
                  </a:cubicBezTo>
                  <a:cubicBezTo>
                    <a:pt x="922577" y="740678"/>
                    <a:pt x="892729" y="753042"/>
                    <a:pt x="861605" y="753042"/>
                  </a:cubicBezTo>
                  <a:lnTo>
                    <a:pt x="117350" y="753042"/>
                  </a:lnTo>
                  <a:cubicBezTo>
                    <a:pt x="52539" y="753042"/>
                    <a:pt x="0" y="700503"/>
                    <a:pt x="0" y="635692"/>
                  </a:cubicBezTo>
                  <a:lnTo>
                    <a:pt x="0" y="117350"/>
                  </a:lnTo>
                  <a:cubicBezTo>
                    <a:pt x="0" y="86227"/>
                    <a:pt x="12364" y="56378"/>
                    <a:pt x="34371" y="34371"/>
                  </a:cubicBezTo>
                  <a:cubicBezTo>
                    <a:pt x="56378" y="12364"/>
                    <a:pt x="86227" y="0"/>
                    <a:pt x="117350" y="0"/>
                  </a:cubicBezTo>
                  <a:close/>
                </a:path>
              </a:pathLst>
            </a:custGeom>
            <a:blipFill>
              <a:blip r:embed="rId10"/>
              <a:stretch>
                <a:fillRect l="-33071" t="-44787" r="-26396" b="-166369"/>
              </a:stretch>
            </a:blipFill>
            <a:ln w="19050" cap="rnd">
              <a:solidFill>
                <a:srgbClr val="424242"/>
              </a:solidFill>
              <a:prstDash val="solid"/>
              <a:round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3429946" y="5588464"/>
            <a:ext cx="3562533" cy="2740408"/>
            <a:chOff x="0" y="0"/>
            <a:chExt cx="978955" cy="75304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78955" cy="753042"/>
            </a:xfrm>
            <a:custGeom>
              <a:avLst/>
              <a:gdLst/>
              <a:ahLst/>
              <a:cxnLst/>
              <a:rect r="r" b="b" t="t" l="l"/>
              <a:pathLst>
                <a:path h="753042" w="978955">
                  <a:moveTo>
                    <a:pt x="117350" y="0"/>
                  </a:moveTo>
                  <a:lnTo>
                    <a:pt x="861605" y="0"/>
                  </a:lnTo>
                  <a:cubicBezTo>
                    <a:pt x="926416" y="0"/>
                    <a:pt x="978955" y="52539"/>
                    <a:pt x="978955" y="117350"/>
                  </a:cubicBezTo>
                  <a:lnTo>
                    <a:pt x="978955" y="635692"/>
                  </a:lnTo>
                  <a:cubicBezTo>
                    <a:pt x="978955" y="666815"/>
                    <a:pt x="966592" y="696664"/>
                    <a:pt x="944584" y="718671"/>
                  </a:cubicBezTo>
                  <a:cubicBezTo>
                    <a:pt x="922577" y="740678"/>
                    <a:pt x="892729" y="753042"/>
                    <a:pt x="861605" y="753042"/>
                  </a:cubicBezTo>
                  <a:lnTo>
                    <a:pt x="117350" y="753042"/>
                  </a:lnTo>
                  <a:cubicBezTo>
                    <a:pt x="52539" y="753042"/>
                    <a:pt x="0" y="700503"/>
                    <a:pt x="0" y="635692"/>
                  </a:cubicBezTo>
                  <a:lnTo>
                    <a:pt x="0" y="117350"/>
                  </a:lnTo>
                  <a:cubicBezTo>
                    <a:pt x="0" y="86227"/>
                    <a:pt x="12364" y="56378"/>
                    <a:pt x="34371" y="34371"/>
                  </a:cubicBezTo>
                  <a:cubicBezTo>
                    <a:pt x="56378" y="12364"/>
                    <a:pt x="86227" y="0"/>
                    <a:pt x="117350" y="0"/>
                  </a:cubicBezTo>
                  <a:close/>
                </a:path>
              </a:pathLst>
            </a:custGeom>
            <a:blipFill>
              <a:blip r:embed="rId11"/>
              <a:stretch>
                <a:fillRect l="-71203" t="-9014" r="-65028" b="-95591"/>
              </a:stretch>
            </a:blipFill>
            <a:ln w="19050" cap="rnd">
              <a:solidFill>
                <a:srgbClr val="424242"/>
              </a:solidFill>
              <a:prstDash val="solid"/>
              <a:round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1028700" y="2744398"/>
            <a:ext cx="6350458" cy="44602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464"/>
              </a:lnSpc>
            </a:pPr>
            <a:r>
              <a:rPr lang="en-US" sz="12196" spc="-573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Meet Our Team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675526" y="650408"/>
            <a:ext cx="5372016" cy="587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8"/>
              </a:lnSpc>
            </a:pPr>
            <a:r>
              <a:rPr lang="en-US" sz="3477" spc="-163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Aegis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577022" y="3868382"/>
            <a:ext cx="4096174" cy="256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0"/>
              </a:lnSpc>
            </a:pPr>
            <a:r>
              <a:rPr lang="en-US" b="true" sz="2000" spc="-94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ATHARVA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577022" y="8715652"/>
            <a:ext cx="4096174" cy="256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0"/>
              </a:lnSpc>
            </a:pPr>
            <a:r>
              <a:rPr lang="en-US" b="true" sz="2000" spc="-94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MANAS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163126" y="3868382"/>
            <a:ext cx="4096174" cy="256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0"/>
              </a:lnSpc>
            </a:pPr>
            <a:r>
              <a:rPr lang="en-US" b="true" sz="2000" spc="-94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KSHITIJ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163126" y="8715652"/>
            <a:ext cx="4096174" cy="256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0"/>
              </a:lnSpc>
            </a:pPr>
            <a:r>
              <a:rPr lang="en-US" b="true" sz="2000" spc="-94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SAHIL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28700" y="8322945"/>
            <a:ext cx="5271498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spc="-84">
                <a:solidFill>
                  <a:srgbClr val="424242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Operations, procurement, finance and support — the same org the control room uses. Role is data, not a slide.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0D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977201">
            <a:off x="8302125" y="-801031"/>
            <a:ext cx="12791303" cy="9442307"/>
          </a:xfrm>
          <a:custGeom>
            <a:avLst/>
            <a:gdLst/>
            <a:ahLst/>
            <a:cxnLst/>
            <a:rect r="r" b="b" t="t" l="l"/>
            <a:pathLst>
              <a:path h="9442307" w="12791303">
                <a:moveTo>
                  <a:pt x="0" y="0"/>
                </a:moveTo>
                <a:lnTo>
                  <a:pt x="12791302" y="0"/>
                </a:lnTo>
                <a:lnTo>
                  <a:pt x="12791302" y="9442307"/>
                </a:lnTo>
                <a:lnTo>
                  <a:pt x="0" y="94423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2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0659522">
            <a:off x="-1466084" y="-1104127"/>
            <a:ext cx="6017764" cy="3599717"/>
          </a:xfrm>
          <a:custGeom>
            <a:avLst/>
            <a:gdLst/>
            <a:ahLst/>
            <a:cxnLst/>
            <a:rect r="r" b="b" t="t" l="l"/>
            <a:pathLst>
              <a:path h="3599717" w="6017764">
                <a:moveTo>
                  <a:pt x="0" y="0"/>
                </a:moveTo>
                <a:lnTo>
                  <a:pt x="6017764" y="0"/>
                </a:lnTo>
                <a:lnTo>
                  <a:pt x="6017764" y="3599717"/>
                </a:lnTo>
                <a:lnTo>
                  <a:pt x="0" y="359971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2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24022" y="5188961"/>
            <a:ext cx="4716981" cy="6251420"/>
          </a:xfrm>
          <a:custGeom>
            <a:avLst/>
            <a:gdLst/>
            <a:ahLst/>
            <a:cxnLst/>
            <a:rect r="r" b="b" t="t" l="l"/>
            <a:pathLst>
              <a:path h="6251420" w="4716981">
                <a:moveTo>
                  <a:pt x="0" y="0"/>
                </a:moveTo>
                <a:lnTo>
                  <a:pt x="4716981" y="0"/>
                </a:lnTo>
                <a:lnTo>
                  <a:pt x="4716981" y="6251421"/>
                </a:lnTo>
                <a:lnTo>
                  <a:pt x="0" y="625142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3692569"/>
            <a:ext cx="9672886" cy="60551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95"/>
              </a:lnSpc>
            </a:pPr>
            <a:r>
              <a:rPr lang="en-US" sz="24569" spc="-1154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Thank You</a:t>
            </a:r>
          </a:p>
        </p:txBody>
      </p:sp>
      <p:sp>
        <p:nvSpPr>
          <p:cNvPr name="AutoShape 6" id="6"/>
          <p:cNvSpPr/>
          <p:nvPr/>
        </p:nvSpPr>
        <p:spPr>
          <a:xfrm>
            <a:off x="1045163" y="1480091"/>
            <a:ext cx="16214137" cy="0"/>
          </a:xfrm>
          <a:prstGeom prst="line">
            <a:avLst/>
          </a:prstGeom>
          <a:ln cap="flat" w="19050">
            <a:solidFill>
              <a:srgbClr val="42424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953566" y="647822"/>
            <a:ext cx="644940" cy="644940"/>
          </a:xfrm>
          <a:custGeom>
            <a:avLst/>
            <a:gdLst/>
            <a:ahLst/>
            <a:cxnLst/>
            <a:rect r="r" b="b" t="t" l="l"/>
            <a:pathLst>
              <a:path h="644940" w="644940">
                <a:moveTo>
                  <a:pt x="0" y="0"/>
                </a:moveTo>
                <a:lnTo>
                  <a:pt x="644939" y="0"/>
                </a:lnTo>
                <a:lnTo>
                  <a:pt x="644939" y="644940"/>
                </a:lnTo>
                <a:lnTo>
                  <a:pt x="0" y="644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873562" y="5967836"/>
            <a:ext cx="355174" cy="355174"/>
          </a:xfrm>
          <a:custGeom>
            <a:avLst/>
            <a:gdLst/>
            <a:ahLst/>
            <a:cxnLst/>
            <a:rect r="r" b="b" t="t" l="l"/>
            <a:pathLst>
              <a:path h="355174" w="355174">
                <a:moveTo>
                  <a:pt x="0" y="0"/>
                </a:moveTo>
                <a:lnTo>
                  <a:pt x="355174" y="0"/>
                </a:lnTo>
                <a:lnTo>
                  <a:pt x="355174" y="355174"/>
                </a:lnTo>
                <a:lnTo>
                  <a:pt x="0" y="35517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870692" y="6848200"/>
            <a:ext cx="358045" cy="358045"/>
          </a:xfrm>
          <a:custGeom>
            <a:avLst/>
            <a:gdLst/>
            <a:ahLst/>
            <a:cxnLst/>
            <a:rect r="r" b="b" t="t" l="l"/>
            <a:pathLst>
              <a:path h="358045" w="358045">
                <a:moveTo>
                  <a:pt x="0" y="0"/>
                </a:moveTo>
                <a:lnTo>
                  <a:pt x="358044" y="0"/>
                </a:lnTo>
                <a:lnTo>
                  <a:pt x="358044" y="358045"/>
                </a:lnTo>
                <a:lnTo>
                  <a:pt x="0" y="35804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12870141" y="7730120"/>
            <a:ext cx="359146" cy="359146"/>
          </a:xfrm>
          <a:custGeom>
            <a:avLst/>
            <a:gdLst/>
            <a:ahLst/>
            <a:cxnLst/>
            <a:rect r="r" b="b" t="t" l="l"/>
            <a:pathLst>
              <a:path h="359146" w="359146">
                <a:moveTo>
                  <a:pt x="0" y="0"/>
                </a:moveTo>
                <a:lnTo>
                  <a:pt x="359146" y="0"/>
                </a:lnTo>
                <a:lnTo>
                  <a:pt x="359146" y="359146"/>
                </a:lnTo>
                <a:lnTo>
                  <a:pt x="0" y="359146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1" id="11"/>
          <p:cNvSpPr/>
          <p:nvPr/>
        </p:nvSpPr>
        <p:spPr>
          <a:xfrm flipH="false" flipV="false" rot="0">
            <a:off x="12873011" y="8582534"/>
            <a:ext cx="356276" cy="356276"/>
          </a:xfrm>
          <a:custGeom>
            <a:avLst/>
            <a:gdLst/>
            <a:ahLst/>
            <a:cxnLst/>
            <a:rect r="r" b="b" t="t" l="l"/>
            <a:pathLst>
              <a:path h="356276" w="356276">
                <a:moveTo>
                  <a:pt x="0" y="0"/>
                </a:moveTo>
                <a:lnTo>
                  <a:pt x="356276" y="0"/>
                </a:lnTo>
                <a:lnTo>
                  <a:pt x="356276" y="356275"/>
                </a:lnTo>
                <a:lnTo>
                  <a:pt x="0" y="356275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12" id="12"/>
          <p:cNvSpPr txBox="true"/>
          <p:nvPr/>
        </p:nvSpPr>
        <p:spPr>
          <a:xfrm rot="0">
            <a:off x="1675526" y="650408"/>
            <a:ext cx="3985713" cy="587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8"/>
              </a:lnSpc>
            </a:pPr>
            <a:r>
              <a:rPr lang="en-US" sz="3477" spc="-163" b="true">
                <a:solidFill>
                  <a:srgbClr val="424242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Aegis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809146" y="622579"/>
            <a:ext cx="3450154" cy="2815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68"/>
              </a:lnSpc>
            </a:pPr>
            <a:r>
              <a:rPr lang="en-US" b="true" sz="1800" spc="-100">
                <a:solidFill>
                  <a:srgbClr val="42424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Presented by :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809146" y="920227"/>
            <a:ext cx="3450154" cy="318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000" spc="-112">
                <a:solidFill>
                  <a:srgbClr val="424242"/>
                </a:solidFill>
                <a:latin typeface="Open Sauce"/>
                <a:ea typeface="Open Sauce"/>
                <a:cs typeface="Open Sauce"/>
                <a:sym typeface="Open Sauce"/>
              </a:rPr>
              <a:t>Atharva · Kshitij · Manas · Sahil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201262" y="7848014"/>
            <a:ext cx="3500324" cy="12393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1"/>
              </a:lnSpc>
            </a:pPr>
            <a:r>
              <a:rPr lang="en-US" sz="3921" spc="-219">
                <a:solidFill>
                  <a:srgbClr val="424242"/>
                </a:solidFill>
                <a:latin typeface="Open Sauce Light"/>
                <a:ea typeface="Open Sauce Light"/>
                <a:cs typeface="Open Sauce Light"/>
                <a:sym typeface="Open Sauce Light"/>
              </a:rPr>
              <a:t>Inspect. Control. Contain.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444633" y="5973020"/>
            <a:ext cx="4023696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20"/>
              </a:lnSpc>
            </a:pPr>
            <a:r>
              <a:rPr lang="en-US" sz="1800" spc="-72">
                <a:solidFill>
                  <a:srgbClr val="393939"/>
                </a:solidFill>
                <a:latin typeface="Open Sauce"/>
                <a:ea typeface="Open Sauce"/>
                <a:cs typeface="Open Sauce"/>
                <a:sym typeface="Open Sauce"/>
              </a:rPr>
              <a:t>github.com/theNeuralHorizon/ai-sec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444633" y="6854641"/>
            <a:ext cx="4023696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20"/>
              </a:lnSpc>
            </a:pPr>
            <a:r>
              <a:rPr lang="en-US" sz="1800" spc="-72">
                <a:solidFill>
                  <a:srgbClr val="393939"/>
                </a:solidFill>
                <a:latin typeface="Open Sauce"/>
                <a:ea typeface="Open Sauce"/>
                <a:cs typeface="Open Sauce"/>
                <a:sym typeface="Open Sauce"/>
              </a:rPr>
              <a:t>python -m aegis.webapp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444633" y="7737291"/>
            <a:ext cx="4023696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20"/>
              </a:lnSpc>
            </a:pPr>
            <a:r>
              <a:rPr lang="en-US" sz="1800" spc="-72">
                <a:solidFill>
                  <a:srgbClr val="393939"/>
                </a:solidFill>
                <a:latin typeface="Open Sauce"/>
                <a:ea typeface="Open Sauce"/>
                <a:cs typeface="Open Sauce"/>
                <a:sym typeface="Open Sauce"/>
              </a:rPr>
              <a:t>http://127.0.0.1:8080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444633" y="8615043"/>
            <a:ext cx="4023696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20"/>
              </a:lnSpc>
            </a:pPr>
            <a:r>
              <a:rPr lang="en-US" sz="1800" spc="-72">
                <a:solidFill>
                  <a:srgbClr val="393939"/>
                </a:solidFill>
                <a:latin typeface="Open Sauce"/>
                <a:ea typeface="Open Sauce"/>
                <a:cs typeface="Open Sauce"/>
                <a:sym typeface="Open Sauce"/>
              </a:rPr>
              <a:t>Northstar Freight · synthetic tenant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DAHVo3M4XJM</dc:identifier>
  <dcterms:modified xsi:type="dcterms:W3CDTF">2011-08-01T06:04:30Z</dcterms:modified>
  <cp:revision>1</cp:revision>
  <dc:title>Aegis — Agent Security Control Plane</dc:title>
  <dc:creator>Aegis / Northstar Freight</dc:creator>
  <dc:subject>Hackathon pitch deck</dc:subject>
  <dc:description>Filled from the live Aegis control room on main.</dc:description>
</cp:coreProperties>
</file>